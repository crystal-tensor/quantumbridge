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此版本以可编辑框图说明硬件、编译器、QOS、QB与应用的关系。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图形依据 https://github.com/crystal-tensor/QuantumOS#4-system-architecture 。在原SDK、Kernel、HAL、Physical Hardware四层上，将SDK展开为QB与四行业应用。QIR/OpenQASM连接QB与QOS，QOS-DP连接内核与HAL，底层连接微波/激光脉冲与控制器。图示为目标设计。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来源：https://github.com/crystal-tensor/QuantumOS#4-system-architecture 。保留原架构微内核、调度、资源、安全、HAL、拓扑映射与门到脉冲编译。原图表达设计目标，不等于已验收实现。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参考PennyLane Catalyst与Qiskit编译理念；脉冲只对开放接口的设备扩展。https://docs.pennylane.ai/projects/catalyst/en/latest/index.html ; https://docs.quantum.ibm.com/migration-guides/qiskit-2.0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原图基于 https://github.com/crystal-tensor/QuantumOS#4-system-architecture 。MLFQ、资源管理和安全为原架构设计；加入既有Bridge Router、JobStore、校准和溯源。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来源：https://github.com/crystal-tensor/QuantumOS/blob/main/generate_patent_diagrams.py 中 draw_mlfq_diagram。原图显示三队列、调度、退出、时间片耗尽降级、I/O阻塞后提升。现有Rust实现为基础优先队列，MLFQ需研发，不能中断任意未知量子态后恢复。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依据：https://github.com/crystal-tensor/QuantumOS/blob/main/generate_patent_diagrams.py 中 draw_qos_dp_sequence。保留SDK、Compiler、QOS、QEC、Q-HAL、QPU六角色和指令、综合征、纠错、读出回传。图为设计扩展，不宣称当前已实现实时容错。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本地 quantumbridge/router/core.py、quafu_tasks.py 为现有补充资产。现状含dry-run和估计，图为目标集成方式，不将估计值当作真实保真度。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当前框架版本策略依据 https://docs.pennylane.ai/en/stable/introduction/interfaces.html 。PyTorch/JAX优先，TensorFlow存量兼容评估。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用户完整Science需求。复杂药物/材料采用活性空间和经典量子协同，规模与误差单独验收。参考 https://qiskit-community.github.io/qiskit-nature/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来源：用户框架，https://qiskit-community.github.io/qiskit-finance/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参考 https://qiskit-community.github.io/qiskit-optimization/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RSA-2048是经典密码的量子威胁评估对象。PQC标准 https://csrc.nist.gov/pubs/fips/203/final ; https://csrc.nist.gov/pubs/fips/204/final ; https://csrc.nist.gov/pubs/fips/205/final 。UOV/SNOVA为候选研究，模拟样本不等于物理QRNG。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复用quantumbridge/studio/catalog_service.py、workflow_registry.py、execution_service.py、result_store.py、export_service.py与现有前端。保留原型与目标平台能力区分。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本地 compat/qiskit_dynamics、compat/qiskit_experiments、compat/mitiq 有模型、合成实验、ZNE/读出缓解子集。图为目标职责，不声称当前已做真实校准。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>
            <a:r>
              <a:t>路径与状态依据本地README和compat模块。Metal/Addons多为advisory/inventory，不把入口当作完整原生能力。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目标生态架构规划。十个主分包按用户指定目录组织，既有项目提供补充资产。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本地HEAD 68902254a22faac04ff102de99ce91f6f42acdb1，含已有工作树修改。QuantumOS commit 59763e2a3ed3d7888feb57816d40438f208951f7。来源：https://github.com/crystal-tensor/QuantumOS#4-system-architecture ; https://github.com/crystal-tensor/QuantumOS/blob/main/generate_patent_diagrams.py ; https://github.com/Quantum-Punk 。Quantum-Punk为组织，公开OS源码尚未定位。QuantumOS为原型，其MLFQ、完整编译和真机支持不视为已验证。其他参考：https://docs.pennylane.ai/en/stable/introduction/interfaces.html ; https://docs.pennylane.ai/projects/catalyst/en/latest/index.html ; https://qiskit-community.github.io/qiskit-nature/ ; https://qiskit-community.github.io/qiskit-finance/ ; https://qiskit-community.github.io/qiskit-optimization/ ; https://qiskit-community.github.io/qiskit-machine-learning/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-1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/>
        </p:txBody>
      </p:sp>
      <p:sp>
        <p:nvSpPr>
          <p:cNvPr id="2" name="text-2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3"/>
          <p:cNvSpPr>
            <a:spLocks noGrp="1"/>
          </p:cNvSpPr>
          <p:nvPr/>
        </p:nvSpPr>
        <p:spPr>
          <a:xfrm>
            <a:off x="762000" y="1257300"/>
            <a:ext cx="127635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 BRIDGE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4"/>
          <p:cNvSpPr>
            <a:spLocks noGrp="1"/>
          </p:cNvSpPr>
          <p:nvPr/>
        </p:nvSpPr>
        <p:spPr>
          <a:xfrm>
            <a:off x="762000" y="2714625"/>
            <a:ext cx="1371600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90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量子生态系统</a:t>
            </a:r>
            <a:r>
              <a:rPr>
                <a:solidFill>
                  <a:srgbClr val="057F86"/>
                </a:solidFill>
                <a:sym typeface="+mn-ea"/>
              </a:rPr>
              <a:t>QUANTUM BRIDGE</a:t>
            </a:r>
            <a:endParaRPr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90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sz="690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-5"/>
          <p:cNvSpPr>
            <a:spLocks noGrp="1"/>
          </p:cNvSpPr>
          <p:nvPr/>
        </p:nvSpPr>
        <p:spPr>
          <a:xfrm>
            <a:off x="809625" y="4543425"/>
            <a:ext cx="13144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总体架构与模块体系</a:t>
            </a:r>
            <a:endParaRPr sz="40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6"/>
          <p:cNvSpPr>
            <a:spLocks noGrp="1"/>
          </p:cNvSpPr>
          <p:nvPr/>
        </p:nvSpPr>
        <p:spPr>
          <a:xfrm>
            <a:off x="819150" y="6057900"/>
            <a:ext cx="13430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十个主分包，贯通硬件基座、运行平台与行业应用</a:t>
            </a:r>
            <a:endParaRPr sz="240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7"/>
          <p:cNvSpPr>
            <a:spLocks noGrp="1"/>
          </p:cNvSpPr>
          <p:nvPr/>
        </p:nvSpPr>
        <p:spPr>
          <a:xfrm>
            <a:off x="819150" y="7600950"/>
            <a:ext cx="13049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架构方案 v2.4     2026.09</a:t>
            </a:r>
            <a:endParaRPr sz="1725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text-8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十个主分包构成生态主体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9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Quantum-Bridge/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10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补充能力归入主包子模块或配套目录，保持十个主分包的结构清晰。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11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12"/>
          <p:cNvSpPr>
            <a:spLocks noGrp="1"/>
          </p:cNvSpPr>
          <p:nvPr/>
        </p:nvSpPr>
        <p:spPr>
          <a:xfrm>
            <a:off x="5619750" y="2076450"/>
            <a:ext cx="4000500" cy="723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13"/>
          <p:cNvSpPr>
            <a:spLocks noGrp="1"/>
          </p:cNvSpPr>
          <p:nvPr/>
        </p:nvSpPr>
        <p:spPr>
          <a:xfrm>
            <a:off x="5791200" y="2247900"/>
            <a:ext cx="365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Quantum-Bridge/</a:t>
            </a:r>
            <a:endParaRPr sz="24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diagram-14"/>
          <p:cNvSpPr>
            <a:spLocks noGrp="1"/>
          </p:cNvSpPr>
          <p:nvPr/>
        </p:nvSpPr>
        <p:spPr>
          <a:xfrm>
            <a:off x="762000" y="3381375"/>
            <a:ext cx="4857750" cy="68580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8" name="text-15"/>
          <p:cNvSpPr>
            <a:spLocks noGrp="1"/>
          </p:cNvSpPr>
          <p:nvPr/>
        </p:nvSpPr>
        <p:spPr>
          <a:xfrm>
            <a:off x="933450" y="3552825"/>
            <a:ext cx="4514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计算与运行基座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4" name="肘形连接符 43"/>
          <p:cNvCxnSpPr>
            <a:stCxn id="5" idx="2"/>
            <a:endCxn id="7" idx="0"/>
          </p:cNvCxnSpPr>
          <p:nvPr/>
        </p:nvCxnSpPr>
        <p:spPr>
          <a:xfrm flipH="1">
            <a:off x="3190875" y="2800350"/>
            <a:ext cx="4429125" cy="581025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0" name="diagram-16"/>
          <p:cNvSpPr>
            <a:spLocks noGrp="1"/>
          </p:cNvSpPr>
          <p:nvPr/>
        </p:nvSpPr>
        <p:spPr>
          <a:xfrm>
            <a:off x="762000" y="4333875"/>
            <a:ext cx="4857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11" name="text-17"/>
          <p:cNvSpPr>
            <a:spLocks noGrp="1"/>
          </p:cNvSpPr>
          <p:nvPr/>
        </p:nvSpPr>
        <p:spPr>
          <a:xfrm>
            <a:off x="933450" y="4505325"/>
            <a:ext cx="4514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quantum_bridge_core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diagram-18"/>
          <p:cNvSpPr>
            <a:spLocks noGrp="1"/>
          </p:cNvSpPr>
          <p:nvPr/>
        </p:nvSpPr>
        <p:spPr>
          <a:xfrm>
            <a:off x="762000" y="5038725"/>
            <a:ext cx="4857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13" name="text-19"/>
          <p:cNvSpPr>
            <a:spLocks noGrp="1"/>
          </p:cNvSpPr>
          <p:nvPr/>
        </p:nvSpPr>
        <p:spPr>
          <a:xfrm>
            <a:off x="933450" y="5210175"/>
            <a:ext cx="4514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quantum_bridge_os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20"/>
          <p:cNvSpPr>
            <a:spLocks noGrp="1"/>
          </p:cNvSpPr>
          <p:nvPr/>
        </p:nvSpPr>
        <p:spPr>
          <a:xfrm>
            <a:off x="762000" y="5743575"/>
            <a:ext cx="4857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15" name="text-21"/>
          <p:cNvSpPr>
            <a:spLocks noGrp="1"/>
          </p:cNvSpPr>
          <p:nvPr/>
        </p:nvSpPr>
        <p:spPr>
          <a:xfrm>
            <a:off x="933450" y="5915025"/>
            <a:ext cx="4514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quantum_bridge_simulator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diagram-22"/>
          <p:cNvSpPr>
            <a:spLocks noGrp="1"/>
          </p:cNvSpPr>
          <p:nvPr/>
        </p:nvSpPr>
        <p:spPr>
          <a:xfrm>
            <a:off x="762000" y="6448425"/>
            <a:ext cx="4857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17" name="text-23"/>
          <p:cNvSpPr>
            <a:spLocks noGrp="1"/>
          </p:cNvSpPr>
          <p:nvPr/>
        </p:nvSpPr>
        <p:spPr>
          <a:xfrm>
            <a:off x="933450" y="6619875"/>
            <a:ext cx="4514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quantum_bridge_ml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diagram-24"/>
          <p:cNvSpPr>
            <a:spLocks noGrp="1"/>
          </p:cNvSpPr>
          <p:nvPr/>
        </p:nvSpPr>
        <p:spPr>
          <a:xfrm>
            <a:off x="5953125" y="3381375"/>
            <a:ext cx="4857750" cy="68580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19" name="text-25"/>
          <p:cNvSpPr>
            <a:spLocks noGrp="1"/>
          </p:cNvSpPr>
          <p:nvPr/>
        </p:nvSpPr>
        <p:spPr>
          <a:xfrm>
            <a:off x="6124575" y="3552825"/>
            <a:ext cx="4514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四大行业应用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5" name="肘形连接符 54"/>
          <p:cNvCxnSpPr>
            <a:stCxn id="5" idx="2"/>
            <a:endCxn id="18" idx="0"/>
          </p:cNvCxnSpPr>
          <p:nvPr/>
        </p:nvCxnSpPr>
        <p:spPr>
          <a:xfrm>
            <a:off x="7620000" y="2800350"/>
            <a:ext cx="762000" cy="581025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1" name="diagram-26"/>
          <p:cNvSpPr>
            <a:spLocks noGrp="1"/>
          </p:cNvSpPr>
          <p:nvPr/>
        </p:nvSpPr>
        <p:spPr>
          <a:xfrm>
            <a:off x="5953125" y="4333875"/>
            <a:ext cx="4857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22" name="text-27"/>
          <p:cNvSpPr>
            <a:spLocks noGrp="1"/>
          </p:cNvSpPr>
          <p:nvPr/>
        </p:nvSpPr>
        <p:spPr>
          <a:xfrm>
            <a:off x="6124575" y="4505325"/>
            <a:ext cx="4514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quantum_bridge_science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diagram-28"/>
          <p:cNvSpPr>
            <a:spLocks noGrp="1"/>
          </p:cNvSpPr>
          <p:nvPr/>
        </p:nvSpPr>
        <p:spPr>
          <a:xfrm>
            <a:off x="5953125" y="5038725"/>
            <a:ext cx="4857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24" name="text-29"/>
          <p:cNvSpPr>
            <a:spLocks noGrp="1"/>
          </p:cNvSpPr>
          <p:nvPr/>
        </p:nvSpPr>
        <p:spPr>
          <a:xfrm>
            <a:off x="6124575" y="5210175"/>
            <a:ext cx="4514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quantum_bridge_finance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diagram-30"/>
          <p:cNvSpPr>
            <a:spLocks noGrp="1"/>
          </p:cNvSpPr>
          <p:nvPr/>
        </p:nvSpPr>
        <p:spPr>
          <a:xfrm>
            <a:off x="5953125" y="5743575"/>
            <a:ext cx="4857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26" name="text-31"/>
          <p:cNvSpPr>
            <a:spLocks noGrp="1"/>
          </p:cNvSpPr>
          <p:nvPr/>
        </p:nvSpPr>
        <p:spPr>
          <a:xfrm>
            <a:off x="6124575" y="5915025"/>
            <a:ext cx="4514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quantum_bridge_industry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diagram-32"/>
          <p:cNvSpPr>
            <a:spLocks noGrp="1"/>
          </p:cNvSpPr>
          <p:nvPr/>
        </p:nvSpPr>
        <p:spPr>
          <a:xfrm>
            <a:off x="5953125" y="6448425"/>
            <a:ext cx="4857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28" name="text-33"/>
          <p:cNvSpPr>
            <a:spLocks noGrp="1"/>
          </p:cNvSpPr>
          <p:nvPr/>
        </p:nvSpPr>
        <p:spPr>
          <a:xfrm>
            <a:off x="6124575" y="6619875"/>
            <a:ext cx="4514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quantum_bridge_crypto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diagram-34"/>
          <p:cNvSpPr>
            <a:spLocks noGrp="1"/>
          </p:cNvSpPr>
          <p:nvPr/>
        </p:nvSpPr>
        <p:spPr>
          <a:xfrm>
            <a:off x="11144250" y="3381375"/>
            <a:ext cx="3333750" cy="68580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30" name="text-35"/>
          <p:cNvSpPr>
            <a:spLocks noGrp="1"/>
          </p:cNvSpPr>
          <p:nvPr/>
        </p:nvSpPr>
        <p:spPr>
          <a:xfrm>
            <a:off x="11315700" y="3552825"/>
            <a:ext cx="2990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生态评测与展示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66" name="肘形连接符 65"/>
          <p:cNvCxnSpPr>
            <a:stCxn id="5" idx="2"/>
            <a:endCxn id="29" idx="0"/>
          </p:cNvCxnSpPr>
          <p:nvPr/>
        </p:nvCxnSpPr>
        <p:spPr>
          <a:xfrm>
            <a:off x="7620000" y="2800350"/>
            <a:ext cx="5191125" cy="581025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32" name="diagram-36"/>
          <p:cNvSpPr>
            <a:spLocks noGrp="1"/>
          </p:cNvSpPr>
          <p:nvPr/>
        </p:nvSpPr>
        <p:spPr>
          <a:xfrm>
            <a:off x="11144250" y="4333875"/>
            <a:ext cx="3333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33" name="text-37"/>
          <p:cNvSpPr>
            <a:spLocks noGrp="1"/>
          </p:cNvSpPr>
          <p:nvPr/>
        </p:nvSpPr>
        <p:spPr>
          <a:xfrm>
            <a:off x="11315700" y="4505325"/>
            <a:ext cx="2990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quantum_bridge_visual</a:t>
            </a:r>
            <a:endParaRPr sz="17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diagram-38"/>
          <p:cNvSpPr>
            <a:spLocks noGrp="1"/>
          </p:cNvSpPr>
          <p:nvPr/>
        </p:nvSpPr>
        <p:spPr>
          <a:xfrm>
            <a:off x="11144250" y="5038725"/>
            <a:ext cx="3333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35" name="text-39"/>
          <p:cNvSpPr>
            <a:spLocks noGrp="1"/>
          </p:cNvSpPr>
          <p:nvPr/>
        </p:nvSpPr>
        <p:spPr>
          <a:xfrm>
            <a:off x="11315700" y="5210175"/>
            <a:ext cx="2990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quantum_bridge_benchmark</a:t>
            </a:r>
            <a:endParaRPr sz="17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7" name="text-40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总体架构：从硬件基座到行业应用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41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目标架构：基于 QuantumOS 微内核与 HAL，扩展 Quantum Bridge 生态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42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参考 QuantumOS README 架构图；Core 提供前端与目标编译，OS 负责内核与 HAL 驱动接入。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43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-44"/>
          <p:cNvSpPr>
            <a:spLocks noGrp="1"/>
          </p:cNvSpPr>
          <p:nvPr/>
        </p:nvSpPr>
        <p:spPr>
          <a:xfrm>
            <a:off x="762000" y="2143125"/>
            <a:ext cx="19431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应用层</a:t>
            </a:r>
            <a:endParaRPr sz="2325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45"/>
          <p:cNvSpPr>
            <a:spLocks noGrp="1"/>
          </p:cNvSpPr>
          <p:nvPr/>
        </p:nvSpPr>
        <p:spPr>
          <a:xfrm>
            <a:off x="762000" y="2533650"/>
            <a:ext cx="18954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四大行业主包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diagram-46"/>
          <p:cNvSpPr>
            <a:spLocks noGrp="1"/>
          </p:cNvSpPr>
          <p:nvPr/>
        </p:nvSpPr>
        <p:spPr>
          <a:xfrm>
            <a:off x="2857500" y="2047875"/>
            <a:ext cx="9763125" cy="838200"/>
          </a:xfrm>
          <a:prstGeom prst="rect">
            <a:avLst/>
          </a:prstGeom>
          <a:solidFill>
            <a:srgbClr val="EDF5FF"/>
          </a:solidFill>
          <a:ln w="13335">
            <a:solidFill>
              <a:srgbClr val="EDF5FF"/>
            </a:solidFill>
          </a:ln>
        </p:spPr>
      </p:sp>
      <p:sp>
        <p:nvSpPr>
          <p:cNvPr id="8" name="diagram-47"/>
          <p:cNvSpPr>
            <a:spLocks noGrp="1"/>
          </p:cNvSpPr>
          <p:nvPr/>
        </p:nvSpPr>
        <p:spPr>
          <a:xfrm>
            <a:off x="3000375" y="210502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9" name="text-48"/>
          <p:cNvSpPr>
            <a:spLocks noGrp="1"/>
          </p:cNvSpPr>
          <p:nvPr/>
        </p:nvSpPr>
        <p:spPr>
          <a:xfrm>
            <a:off x="3171825" y="220027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自然科学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49"/>
          <p:cNvSpPr>
            <a:spLocks noGrp="1"/>
          </p:cNvSpPr>
          <p:nvPr/>
        </p:nvSpPr>
        <p:spPr>
          <a:xfrm>
            <a:off x="3171825" y="251460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science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50"/>
          <p:cNvSpPr>
            <a:spLocks noGrp="1"/>
          </p:cNvSpPr>
          <p:nvPr/>
        </p:nvSpPr>
        <p:spPr>
          <a:xfrm>
            <a:off x="5403056" y="210502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12" name="text-51"/>
          <p:cNvSpPr>
            <a:spLocks noGrp="1"/>
          </p:cNvSpPr>
          <p:nvPr/>
        </p:nvSpPr>
        <p:spPr>
          <a:xfrm>
            <a:off x="5574506" y="220027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量子金融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52"/>
          <p:cNvSpPr>
            <a:spLocks noGrp="1"/>
          </p:cNvSpPr>
          <p:nvPr/>
        </p:nvSpPr>
        <p:spPr>
          <a:xfrm>
            <a:off x="5574506" y="251460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finance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53"/>
          <p:cNvSpPr>
            <a:spLocks noGrp="1"/>
          </p:cNvSpPr>
          <p:nvPr/>
        </p:nvSpPr>
        <p:spPr>
          <a:xfrm>
            <a:off x="7805738" y="210502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15" name="text-54"/>
          <p:cNvSpPr>
            <a:spLocks noGrp="1"/>
          </p:cNvSpPr>
          <p:nvPr/>
        </p:nvSpPr>
        <p:spPr>
          <a:xfrm>
            <a:off x="7977188" y="220027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工业优化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55"/>
          <p:cNvSpPr>
            <a:spLocks noGrp="1"/>
          </p:cNvSpPr>
          <p:nvPr/>
        </p:nvSpPr>
        <p:spPr>
          <a:xfrm>
            <a:off x="7977188" y="251460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industry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diagram-56"/>
          <p:cNvSpPr>
            <a:spLocks noGrp="1"/>
          </p:cNvSpPr>
          <p:nvPr/>
        </p:nvSpPr>
        <p:spPr>
          <a:xfrm>
            <a:off x="10208419" y="210502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18" name="text-57"/>
          <p:cNvSpPr>
            <a:spLocks noGrp="1"/>
          </p:cNvSpPr>
          <p:nvPr/>
        </p:nvSpPr>
        <p:spPr>
          <a:xfrm>
            <a:off x="10379869" y="220027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密码与安全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58"/>
          <p:cNvSpPr>
            <a:spLocks noGrp="1"/>
          </p:cNvSpPr>
          <p:nvPr/>
        </p:nvSpPr>
        <p:spPr>
          <a:xfrm>
            <a:off x="10379869" y="251460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crypto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-59"/>
          <p:cNvSpPr>
            <a:spLocks noGrp="1"/>
          </p:cNvSpPr>
          <p:nvPr/>
        </p:nvSpPr>
        <p:spPr>
          <a:xfrm>
            <a:off x="762000" y="3267075"/>
            <a:ext cx="19431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QB SDK</a:t>
            </a:r>
            <a:endParaRPr sz="2325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-60"/>
          <p:cNvSpPr>
            <a:spLocks noGrp="1"/>
          </p:cNvSpPr>
          <p:nvPr/>
        </p:nvSpPr>
        <p:spPr>
          <a:xfrm>
            <a:off x="762000" y="3657600"/>
            <a:ext cx="18954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开发与算法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diagram-61"/>
          <p:cNvSpPr>
            <a:spLocks noGrp="1"/>
          </p:cNvSpPr>
          <p:nvPr/>
        </p:nvSpPr>
        <p:spPr>
          <a:xfrm>
            <a:off x="2857500" y="3171825"/>
            <a:ext cx="9763125" cy="838200"/>
          </a:xfrm>
          <a:prstGeom prst="rect">
            <a:avLst/>
          </a:prstGeom>
          <a:solidFill>
            <a:srgbClr val="EFF8F6"/>
          </a:solidFill>
          <a:ln w="13335">
            <a:solidFill>
              <a:srgbClr val="EFF8F6"/>
            </a:solidFill>
          </a:ln>
        </p:spPr>
      </p:sp>
      <p:sp>
        <p:nvSpPr>
          <p:cNvPr id="23" name="diagram-62"/>
          <p:cNvSpPr>
            <a:spLocks noGrp="1"/>
          </p:cNvSpPr>
          <p:nvPr/>
        </p:nvSpPr>
        <p:spPr>
          <a:xfrm>
            <a:off x="3000375" y="3228975"/>
            <a:ext cx="3070225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24" name="text-63"/>
          <p:cNvSpPr>
            <a:spLocks noGrp="1"/>
          </p:cNvSpPr>
          <p:nvPr/>
        </p:nvSpPr>
        <p:spPr>
          <a:xfrm>
            <a:off x="3171825" y="3324225"/>
            <a:ext cx="27273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Core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-64"/>
          <p:cNvSpPr>
            <a:spLocks noGrp="1"/>
          </p:cNvSpPr>
          <p:nvPr/>
        </p:nvSpPr>
        <p:spPr>
          <a:xfrm>
            <a:off x="3171825" y="3638550"/>
            <a:ext cx="272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电路 / 算子 / 原语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diagram-65"/>
          <p:cNvSpPr>
            <a:spLocks noGrp="1"/>
          </p:cNvSpPr>
          <p:nvPr/>
        </p:nvSpPr>
        <p:spPr>
          <a:xfrm>
            <a:off x="6203950" y="3228975"/>
            <a:ext cx="3070225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27" name="text-66"/>
          <p:cNvSpPr>
            <a:spLocks noGrp="1"/>
          </p:cNvSpPr>
          <p:nvPr/>
        </p:nvSpPr>
        <p:spPr>
          <a:xfrm>
            <a:off x="6375400" y="3324225"/>
            <a:ext cx="27273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Simulator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-67"/>
          <p:cNvSpPr>
            <a:spLocks noGrp="1"/>
          </p:cNvSpPr>
          <p:nvPr/>
        </p:nvSpPr>
        <p:spPr>
          <a:xfrm>
            <a:off x="6375400" y="3638550"/>
            <a:ext cx="272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仿真 / 噪声 / 采样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diagram-68"/>
          <p:cNvSpPr>
            <a:spLocks noGrp="1"/>
          </p:cNvSpPr>
          <p:nvPr/>
        </p:nvSpPr>
        <p:spPr>
          <a:xfrm>
            <a:off x="9407525" y="3228975"/>
            <a:ext cx="3070225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30" name="text-69"/>
          <p:cNvSpPr>
            <a:spLocks noGrp="1"/>
          </p:cNvSpPr>
          <p:nvPr/>
        </p:nvSpPr>
        <p:spPr>
          <a:xfrm>
            <a:off x="9578975" y="3324225"/>
            <a:ext cx="27273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ML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text-70"/>
          <p:cNvSpPr>
            <a:spLocks noGrp="1"/>
          </p:cNvSpPr>
          <p:nvPr/>
        </p:nvSpPr>
        <p:spPr>
          <a:xfrm>
            <a:off x="9578975" y="3638550"/>
            <a:ext cx="272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可微计算 / 混合训练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-71"/>
          <p:cNvSpPr>
            <a:spLocks noGrp="1"/>
          </p:cNvSpPr>
          <p:nvPr/>
        </p:nvSpPr>
        <p:spPr>
          <a:xfrm>
            <a:off x="762000" y="4391025"/>
            <a:ext cx="19431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</a:t>
            </a:r>
            <a:endParaRPr sz="2325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text-72"/>
          <p:cNvSpPr>
            <a:spLocks noGrp="1"/>
          </p:cNvSpPr>
          <p:nvPr/>
        </p:nvSpPr>
        <p:spPr>
          <a:xfrm>
            <a:off x="762000" y="4781550"/>
            <a:ext cx="18954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Rust 微内核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diagram-73"/>
          <p:cNvSpPr>
            <a:spLocks noGrp="1"/>
          </p:cNvSpPr>
          <p:nvPr/>
        </p:nvSpPr>
        <p:spPr>
          <a:xfrm>
            <a:off x="2857500" y="4295775"/>
            <a:ext cx="9763125" cy="838200"/>
          </a:xfrm>
          <a:prstGeom prst="rect">
            <a:avLst/>
          </a:prstGeom>
          <a:solidFill>
            <a:srgbClr val="EAF3F8"/>
          </a:solidFill>
          <a:ln w="13335">
            <a:solidFill>
              <a:srgbClr val="EAF3F8"/>
            </a:solidFill>
          </a:ln>
        </p:spPr>
      </p:sp>
      <p:sp>
        <p:nvSpPr>
          <p:cNvPr id="35" name="diagram-74"/>
          <p:cNvSpPr>
            <a:spLocks noGrp="1"/>
          </p:cNvSpPr>
          <p:nvPr/>
        </p:nvSpPr>
        <p:spPr>
          <a:xfrm>
            <a:off x="3000375" y="435292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36" name="text-75"/>
          <p:cNvSpPr>
            <a:spLocks noGrp="1"/>
          </p:cNvSpPr>
          <p:nvPr/>
        </p:nvSpPr>
        <p:spPr>
          <a:xfrm>
            <a:off x="3171825" y="444817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Scheduler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text-76"/>
          <p:cNvSpPr>
            <a:spLocks noGrp="1"/>
          </p:cNvSpPr>
          <p:nvPr/>
        </p:nvSpPr>
        <p:spPr>
          <a:xfrm>
            <a:off x="3171825" y="476250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MLFQ / 准入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diagram-77"/>
          <p:cNvSpPr>
            <a:spLocks noGrp="1"/>
          </p:cNvSpPr>
          <p:nvPr/>
        </p:nvSpPr>
        <p:spPr>
          <a:xfrm>
            <a:off x="5403056" y="435292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39" name="text-78"/>
          <p:cNvSpPr>
            <a:spLocks noGrp="1"/>
          </p:cNvSpPr>
          <p:nvPr/>
        </p:nvSpPr>
        <p:spPr>
          <a:xfrm>
            <a:off x="5574506" y="444817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Resource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text-79"/>
          <p:cNvSpPr>
            <a:spLocks noGrp="1"/>
          </p:cNvSpPr>
          <p:nvPr/>
        </p:nvSpPr>
        <p:spPr>
          <a:xfrm>
            <a:off x="5574506" y="476250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量子比特 / 资源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diagram-80"/>
          <p:cNvSpPr>
            <a:spLocks noGrp="1"/>
          </p:cNvSpPr>
          <p:nvPr/>
        </p:nvSpPr>
        <p:spPr>
          <a:xfrm>
            <a:off x="7805738" y="435292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42" name="text-81"/>
          <p:cNvSpPr>
            <a:spLocks noGrp="1"/>
          </p:cNvSpPr>
          <p:nvPr/>
        </p:nvSpPr>
        <p:spPr>
          <a:xfrm>
            <a:off x="7977188" y="444817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Security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text-82"/>
          <p:cNvSpPr>
            <a:spLocks noGrp="1"/>
          </p:cNvSpPr>
          <p:nvPr/>
        </p:nvSpPr>
        <p:spPr>
          <a:xfrm>
            <a:off x="7977188" y="476250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租户 / 权限 / 配额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diagram-83"/>
          <p:cNvSpPr>
            <a:spLocks noGrp="1"/>
          </p:cNvSpPr>
          <p:nvPr/>
        </p:nvSpPr>
        <p:spPr>
          <a:xfrm>
            <a:off x="10208419" y="435292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45" name="text-84"/>
          <p:cNvSpPr>
            <a:spLocks noGrp="1"/>
          </p:cNvSpPr>
          <p:nvPr/>
        </p:nvSpPr>
        <p:spPr>
          <a:xfrm>
            <a:off x="10379869" y="444817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Runtime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text-85"/>
          <p:cNvSpPr>
            <a:spLocks noGrp="1"/>
          </p:cNvSpPr>
          <p:nvPr/>
        </p:nvSpPr>
        <p:spPr>
          <a:xfrm>
            <a:off x="10379869" y="476250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Router / 作业状态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text-86"/>
          <p:cNvSpPr>
            <a:spLocks noGrp="1"/>
          </p:cNvSpPr>
          <p:nvPr/>
        </p:nvSpPr>
        <p:spPr>
          <a:xfrm>
            <a:off x="762000" y="5514975"/>
            <a:ext cx="19431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编译器 / HAL</a:t>
            </a:r>
            <a:endParaRPr sz="2025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text-87"/>
          <p:cNvSpPr>
            <a:spLocks noGrp="1"/>
          </p:cNvSpPr>
          <p:nvPr/>
        </p:nvSpPr>
        <p:spPr>
          <a:xfrm>
            <a:off x="762000" y="5905500"/>
            <a:ext cx="18954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目标适配与控制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diagram-88"/>
          <p:cNvSpPr>
            <a:spLocks noGrp="1"/>
          </p:cNvSpPr>
          <p:nvPr/>
        </p:nvSpPr>
        <p:spPr>
          <a:xfrm>
            <a:off x="2857500" y="5419725"/>
            <a:ext cx="9763125" cy="838200"/>
          </a:xfrm>
          <a:prstGeom prst="rect">
            <a:avLst/>
          </a:prstGeom>
          <a:solidFill>
            <a:srgbClr val="F2F4FA"/>
          </a:solidFill>
          <a:ln w="13335">
            <a:solidFill>
              <a:srgbClr val="F2F4FA"/>
            </a:solidFill>
          </a:ln>
        </p:spPr>
      </p:sp>
      <p:sp>
        <p:nvSpPr>
          <p:cNvPr id="50" name="diagram-89"/>
          <p:cNvSpPr>
            <a:spLocks noGrp="1"/>
          </p:cNvSpPr>
          <p:nvPr/>
        </p:nvSpPr>
        <p:spPr>
          <a:xfrm>
            <a:off x="3000375" y="547687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51" name="text-90"/>
          <p:cNvSpPr>
            <a:spLocks noGrp="1"/>
          </p:cNvSpPr>
          <p:nvPr/>
        </p:nvSpPr>
        <p:spPr>
          <a:xfrm>
            <a:off x="3171825" y="557212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目标编译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text-91"/>
          <p:cNvSpPr>
            <a:spLocks noGrp="1"/>
          </p:cNvSpPr>
          <p:nvPr/>
        </p:nvSpPr>
        <p:spPr>
          <a:xfrm>
            <a:off x="3171825" y="588645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QIR / QISA / 门集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diagram-92"/>
          <p:cNvSpPr>
            <a:spLocks noGrp="1"/>
          </p:cNvSpPr>
          <p:nvPr/>
        </p:nvSpPr>
        <p:spPr>
          <a:xfrm>
            <a:off x="5403056" y="547687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54" name="text-93"/>
          <p:cNvSpPr>
            <a:spLocks noGrp="1"/>
          </p:cNvSpPr>
          <p:nvPr/>
        </p:nvSpPr>
        <p:spPr>
          <a:xfrm>
            <a:off x="5574506" y="557212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Topology Mapper</a:t>
            </a:r>
            <a:endParaRPr sz="16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text-94"/>
          <p:cNvSpPr>
            <a:spLocks noGrp="1"/>
          </p:cNvSpPr>
          <p:nvPr/>
        </p:nvSpPr>
        <p:spPr>
          <a:xfrm>
            <a:off x="5574506" y="588645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布局 / 路由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diagram-95"/>
          <p:cNvSpPr>
            <a:spLocks noGrp="1"/>
          </p:cNvSpPr>
          <p:nvPr/>
        </p:nvSpPr>
        <p:spPr>
          <a:xfrm>
            <a:off x="7805738" y="547687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57" name="text-96"/>
          <p:cNvSpPr>
            <a:spLocks noGrp="1"/>
          </p:cNvSpPr>
          <p:nvPr/>
        </p:nvSpPr>
        <p:spPr>
          <a:xfrm>
            <a:off x="7977188" y="557212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Gate → Pulse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text-97"/>
          <p:cNvSpPr>
            <a:spLocks noGrp="1"/>
          </p:cNvSpPr>
          <p:nvPr/>
        </p:nvSpPr>
        <p:spPr>
          <a:xfrm>
            <a:off x="7977188" y="588645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微波 / 激光扩展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diagram-98"/>
          <p:cNvSpPr>
            <a:spLocks noGrp="1"/>
          </p:cNvSpPr>
          <p:nvPr/>
        </p:nvSpPr>
        <p:spPr>
          <a:xfrm>
            <a:off x="10208419" y="547687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60" name="text-99"/>
          <p:cNvSpPr>
            <a:spLocks noGrp="1"/>
          </p:cNvSpPr>
          <p:nvPr/>
        </p:nvSpPr>
        <p:spPr>
          <a:xfrm>
            <a:off x="10379869" y="557212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Q-HAL Driver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text-100"/>
          <p:cNvSpPr>
            <a:spLocks noGrp="1"/>
          </p:cNvSpPr>
          <p:nvPr/>
        </p:nvSpPr>
        <p:spPr>
          <a:xfrm>
            <a:off x="10379869" y="588645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QOS-DP / 控制器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text-101"/>
          <p:cNvSpPr>
            <a:spLocks noGrp="1"/>
          </p:cNvSpPr>
          <p:nvPr/>
        </p:nvSpPr>
        <p:spPr>
          <a:xfrm>
            <a:off x="762000" y="6638925"/>
            <a:ext cx="19431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硬件基座</a:t>
            </a:r>
            <a:endParaRPr sz="2325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" name="text-102"/>
          <p:cNvSpPr>
            <a:spLocks noGrp="1"/>
          </p:cNvSpPr>
          <p:nvPr/>
        </p:nvSpPr>
        <p:spPr>
          <a:xfrm>
            <a:off x="762000" y="7029450"/>
            <a:ext cx="18954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异构算力资源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diagram-103"/>
          <p:cNvSpPr>
            <a:spLocks noGrp="1"/>
          </p:cNvSpPr>
          <p:nvPr/>
        </p:nvSpPr>
        <p:spPr>
          <a:xfrm>
            <a:off x="2857500" y="6543675"/>
            <a:ext cx="9763125" cy="838200"/>
          </a:xfrm>
          <a:prstGeom prst="rect">
            <a:avLst/>
          </a:prstGeom>
          <a:solidFill>
            <a:srgbClr val="F3F6F8"/>
          </a:solidFill>
          <a:ln w="13335">
            <a:solidFill>
              <a:srgbClr val="F3F6F8"/>
            </a:solidFill>
          </a:ln>
        </p:spPr>
      </p:sp>
      <p:sp>
        <p:nvSpPr>
          <p:cNvPr id="65" name="diagram-104"/>
          <p:cNvSpPr>
            <a:spLocks noGrp="1"/>
          </p:cNvSpPr>
          <p:nvPr/>
        </p:nvSpPr>
        <p:spPr>
          <a:xfrm>
            <a:off x="3000375" y="660082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66" name="text-105"/>
          <p:cNvSpPr>
            <a:spLocks noGrp="1"/>
          </p:cNvSpPr>
          <p:nvPr/>
        </p:nvSpPr>
        <p:spPr>
          <a:xfrm>
            <a:off x="3171825" y="669607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CPU / GPU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" name="text-106"/>
          <p:cNvSpPr>
            <a:spLocks noGrp="1"/>
          </p:cNvSpPr>
          <p:nvPr/>
        </p:nvSpPr>
        <p:spPr>
          <a:xfrm>
            <a:off x="3171825" y="701040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经典与仿真资源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" name="diagram-107"/>
          <p:cNvSpPr>
            <a:spLocks noGrp="1"/>
          </p:cNvSpPr>
          <p:nvPr/>
        </p:nvSpPr>
        <p:spPr>
          <a:xfrm>
            <a:off x="5403056" y="660082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69" name="text-108"/>
          <p:cNvSpPr>
            <a:spLocks noGrp="1"/>
          </p:cNvSpPr>
          <p:nvPr/>
        </p:nvSpPr>
        <p:spPr>
          <a:xfrm>
            <a:off x="5574506" y="669607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超导 QPU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0" name="text-109"/>
          <p:cNvSpPr>
            <a:spLocks noGrp="1"/>
          </p:cNvSpPr>
          <p:nvPr/>
        </p:nvSpPr>
        <p:spPr>
          <a:xfrm>
            <a:off x="5574506" y="701040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国产 / 国际设备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1" name="diagram-110"/>
          <p:cNvSpPr>
            <a:spLocks noGrp="1"/>
          </p:cNvSpPr>
          <p:nvPr/>
        </p:nvSpPr>
        <p:spPr>
          <a:xfrm>
            <a:off x="7805738" y="660082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72" name="text-111"/>
          <p:cNvSpPr>
            <a:spLocks noGrp="1"/>
          </p:cNvSpPr>
          <p:nvPr/>
        </p:nvSpPr>
        <p:spPr>
          <a:xfrm>
            <a:off x="7977188" y="669607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离子 / 中性原子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3" name="text-112"/>
          <p:cNvSpPr>
            <a:spLocks noGrp="1"/>
          </p:cNvSpPr>
          <p:nvPr/>
        </p:nvSpPr>
        <p:spPr>
          <a:xfrm>
            <a:off x="7977188" y="701040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异构量子设备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4" name="diagram-113"/>
          <p:cNvSpPr>
            <a:spLocks noGrp="1"/>
          </p:cNvSpPr>
          <p:nvPr/>
        </p:nvSpPr>
        <p:spPr>
          <a:xfrm>
            <a:off x="10208419" y="6600825"/>
            <a:ext cx="2269331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BDCFDA"/>
            </a:solidFill>
          </a:ln>
        </p:spPr>
      </p:sp>
      <p:sp>
        <p:nvSpPr>
          <p:cNvPr id="75" name="text-114"/>
          <p:cNvSpPr>
            <a:spLocks noGrp="1"/>
          </p:cNvSpPr>
          <p:nvPr/>
        </p:nvSpPr>
        <p:spPr>
          <a:xfrm>
            <a:off x="10379869" y="6696075"/>
            <a:ext cx="1926431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光量子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6" name="text-115"/>
          <p:cNvSpPr>
            <a:spLocks noGrp="1"/>
          </p:cNvSpPr>
          <p:nvPr/>
        </p:nvSpPr>
        <p:spPr>
          <a:xfrm>
            <a:off x="10379869" y="7010400"/>
            <a:ext cx="1926431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门模型 / CV 扩展</a:t>
            </a:r>
            <a:endParaRPr sz="154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163" name="直接箭头连接符 162"/>
          <p:cNvCxnSpPr>
            <a:stCxn id="64" idx="0"/>
            <a:endCxn id="49" idx="2"/>
          </p:cNvCxnSpPr>
          <p:nvPr/>
        </p:nvCxnSpPr>
        <p:spPr>
          <a:xfrm flipV="1">
            <a:off x="7739063" y="6257925"/>
            <a:ext cx="0" cy="285750"/>
          </a:xfrm>
          <a:prstGeom prst="straightConnector1">
            <a:avLst/>
          </a:prstGeom>
          <a:ln w="26670">
            <a:solidFill>
              <a:srgbClr val="205FBC"/>
            </a:solidFill>
            <a:prstDash val="solid"/>
            <a:tailEnd type="triangle" w="sm" len="sm"/>
          </a:ln>
        </p:spPr>
      </p:cxnSp>
      <p:cxnSp>
        <p:nvCxnSpPr>
          <p:cNvPr id="164" name="直接箭头连接符 163"/>
          <p:cNvCxnSpPr>
            <a:stCxn id="49" idx="0"/>
            <a:endCxn id="34" idx="2"/>
          </p:cNvCxnSpPr>
          <p:nvPr/>
        </p:nvCxnSpPr>
        <p:spPr>
          <a:xfrm flipV="1">
            <a:off x="7739063" y="5133975"/>
            <a:ext cx="0" cy="285750"/>
          </a:xfrm>
          <a:prstGeom prst="straightConnector1">
            <a:avLst/>
          </a:prstGeom>
          <a:ln w="26670">
            <a:solidFill>
              <a:srgbClr val="205FBC"/>
            </a:solidFill>
            <a:prstDash val="solid"/>
            <a:tailEnd type="triangle" w="sm" len="sm"/>
          </a:ln>
        </p:spPr>
      </p:cxnSp>
      <p:cxnSp>
        <p:nvCxnSpPr>
          <p:cNvPr id="165" name="直接箭头连接符 164"/>
          <p:cNvCxnSpPr>
            <a:stCxn id="34" idx="0"/>
            <a:endCxn id="22" idx="2"/>
          </p:cNvCxnSpPr>
          <p:nvPr/>
        </p:nvCxnSpPr>
        <p:spPr>
          <a:xfrm flipV="1">
            <a:off x="7739063" y="4010025"/>
            <a:ext cx="0" cy="285750"/>
          </a:xfrm>
          <a:prstGeom prst="straightConnector1">
            <a:avLst/>
          </a:prstGeom>
          <a:ln w="26670">
            <a:solidFill>
              <a:srgbClr val="205FBC"/>
            </a:solidFill>
            <a:prstDash val="solid"/>
            <a:tailEnd type="triangle" w="sm" len="sm"/>
          </a:ln>
        </p:spPr>
      </p:cxnSp>
      <p:cxnSp>
        <p:nvCxnSpPr>
          <p:cNvPr id="166" name="直接箭头连接符 165"/>
          <p:cNvCxnSpPr>
            <a:stCxn id="22" idx="0"/>
            <a:endCxn id="7" idx="2"/>
          </p:cNvCxnSpPr>
          <p:nvPr/>
        </p:nvCxnSpPr>
        <p:spPr>
          <a:xfrm flipV="1">
            <a:off x="7739063" y="2886075"/>
            <a:ext cx="0" cy="285750"/>
          </a:xfrm>
          <a:prstGeom prst="straightConnector1">
            <a:avLst/>
          </a:prstGeom>
          <a:ln w="26670">
            <a:solidFill>
              <a:srgbClr val="205FBC"/>
            </a:solidFill>
            <a:prstDash val="solid"/>
            <a:tailEnd type="triangle" w="sm" len="sm"/>
          </a:ln>
        </p:spPr>
      </p:cxnSp>
      <p:sp>
        <p:nvSpPr>
          <p:cNvPr id="81" name="text-116"/>
          <p:cNvSpPr>
            <a:spLocks noGrp="1"/>
          </p:cNvSpPr>
          <p:nvPr/>
        </p:nvSpPr>
        <p:spPr>
          <a:xfrm>
            <a:off x="8382000" y="4038600"/>
            <a:ext cx="4191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QIR / OpenQASM 3</a:t>
            </a:r>
            <a:endParaRPr sz="150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2" name="text-117"/>
          <p:cNvSpPr>
            <a:spLocks noGrp="1"/>
          </p:cNvSpPr>
          <p:nvPr/>
        </p:nvSpPr>
        <p:spPr>
          <a:xfrm>
            <a:off x="8382000" y="5162550"/>
            <a:ext cx="4191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QOS-DP 驱动接口</a:t>
            </a:r>
            <a:endParaRPr sz="150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3" name="text-118"/>
          <p:cNvSpPr>
            <a:spLocks noGrp="1"/>
          </p:cNvSpPr>
          <p:nvPr/>
        </p:nvSpPr>
        <p:spPr>
          <a:xfrm>
            <a:off x="8382000" y="6286500"/>
            <a:ext cx="4191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脉冲 / 控制器 / 设备 API</a:t>
            </a:r>
            <a:endParaRPr sz="150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4" name="diagram-119"/>
          <p:cNvSpPr>
            <a:spLocks noGrp="1"/>
          </p:cNvSpPr>
          <p:nvPr/>
        </p:nvSpPr>
        <p:spPr>
          <a:xfrm>
            <a:off x="12954000" y="2047875"/>
            <a:ext cx="1524000" cy="533400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85" name="text-120"/>
          <p:cNvSpPr>
            <a:spLocks noGrp="1"/>
          </p:cNvSpPr>
          <p:nvPr/>
        </p:nvSpPr>
        <p:spPr>
          <a:xfrm>
            <a:off x="13125450" y="2219325"/>
            <a:ext cx="1181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跨层支撑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6" name="text-121"/>
          <p:cNvSpPr>
            <a:spLocks noGrp="1"/>
          </p:cNvSpPr>
          <p:nvPr/>
        </p:nvSpPr>
        <p:spPr>
          <a:xfrm>
            <a:off x="13125450" y="2800350"/>
            <a:ext cx="1181100" cy="450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Visual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1575"/>
          </a:p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Benchmark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1575"/>
          </a:p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Studio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1575"/>
          </a:p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校准 / QEC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1575"/>
          </a:p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插件 / 工具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text-122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QuantumOS 原架构如何融入十个主分包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123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沿用四层骨架，扩展开发生态与行业应用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124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左侧依据 QuantumOS README；右侧为融合设计，新增光量子、AI 与行业生态。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125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-126"/>
          <p:cNvSpPr>
            <a:spLocks noGrp="1"/>
          </p:cNvSpPr>
          <p:nvPr/>
        </p:nvSpPr>
        <p:spPr>
          <a:xfrm>
            <a:off x="762000" y="2076450"/>
            <a:ext cx="5715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QuantumOS 原框架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127"/>
          <p:cNvSpPr>
            <a:spLocks noGrp="1"/>
          </p:cNvSpPr>
          <p:nvPr/>
        </p:nvSpPr>
        <p:spPr>
          <a:xfrm>
            <a:off x="7715250" y="2076450"/>
            <a:ext cx="6762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 Bridge 生态归属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diagram-128"/>
          <p:cNvSpPr>
            <a:spLocks noGrp="1"/>
          </p:cNvSpPr>
          <p:nvPr/>
        </p:nvSpPr>
        <p:spPr>
          <a:xfrm>
            <a:off x="762000" y="2752725"/>
            <a:ext cx="5715000" cy="9334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8" name="text-129"/>
          <p:cNvSpPr>
            <a:spLocks noGrp="1"/>
          </p:cNvSpPr>
          <p:nvPr/>
        </p:nvSpPr>
        <p:spPr>
          <a:xfrm>
            <a:off x="933450" y="2847975"/>
            <a:ext cx="5372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Application / SDK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text-130"/>
          <p:cNvSpPr>
            <a:spLocks noGrp="1"/>
          </p:cNvSpPr>
          <p:nvPr/>
        </p:nvSpPr>
        <p:spPr>
          <a:xfrm>
            <a:off x="933450" y="3286125"/>
            <a:ext cx="5372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Python / C++，VQE / QAOA / QEC</a:t>
            </a:r>
            <a:endParaRPr sz="17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diagram-131"/>
          <p:cNvSpPr>
            <a:spLocks noGrp="1"/>
          </p:cNvSpPr>
          <p:nvPr/>
        </p:nvSpPr>
        <p:spPr>
          <a:xfrm>
            <a:off x="7715250" y="2752725"/>
            <a:ext cx="6762750" cy="93345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11" name="text-132"/>
          <p:cNvSpPr>
            <a:spLocks noGrp="1"/>
          </p:cNvSpPr>
          <p:nvPr/>
        </p:nvSpPr>
        <p:spPr>
          <a:xfrm>
            <a:off x="7886700" y="2847975"/>
            <a:ext cx="6419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四行业应用 + QB SDK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-133"/>
          <p:cNvSpPr>
            <a:spLocks noGrp="1"/>
          </p:cNvSpPr>
          <p:nvPr/>
        </p:nvSpPr>
        <p:spPr>
          <a:xfrm>
            <a:off x="7886700" y="3286125"/>
            <a:ext cx="6419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Science / Finance / Industry / Crypto + Core / ML</a:t>
            </a:r>
            <a:endParaRPr sz="16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1" name="直接箭头连接符 50"/>
          <p:cNvCxnSpPr>
            <a:stCxn id="7" idx="3"/>
            <a:endCxn id="10" idx="1"/>
          </p:cNvCxnSpPr>
          <p:nvPr/>
        </p:nvCxnSpPr>
        <p:spPr>
          <a:xfrm>
            <a:off x="6477000" y="3219450"/>
            <a:ext cx="12382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4" name="diagram-134"/>
          <p:cNvSpPr>
            <a:spLocks noGrp="1"/>
          </p:cNvSpPr>
          <p:nvPr/>
        </p:nvSpPr>
        <p:spPr>
          <a:xfrm>
            <a:off x="762000" y="3943350"/>
            <a:ext cx="5715000" cy="9334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5" name="text-135"/>
          <p:cNvSpPr>
            <a:spLocks noGrp="1"/>
          </p:cNvSpPr>
          <p:nvPr/>
        </p:nvSpPr>
        <p:spPr>
          <a:xfrm>
            <a:off x="933450" y="4038600"/>
            <a:ext cx="5372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QuantumOS Kernel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136"/>
          <p:cNvSpPr>
            <a:spLocks noGrp="1"/>
          </p:cNvSpPr>
          <p:nvPr/>
        </p:nvSpPr>
        <p:spPr>
          <a:xfrm>
            <a:off x="933450" y="4476750"/>
            <a:ext cx="5372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Scheduler / Resource / Security</a:t>
            </a:r>
            <a:endParaRPr sz="17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diagram-137"/>
          <p:cNvSpPr>
            <a:spLocks noGrp="1"/>
          </p:cNvSpPr>
          <p:nvPr/>
        </p:nvSpPr>
        <p:spPr>
          <a:xfrm>
            <a:off x="7715250" y="3943350"/>
            <a:ext cx="6762750" cy="93345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18" name="text-138"/>
          <p:cNvSpPr>
            <a:spLocks noGrp="1"/>
          </p:cNvSpPr>
          <p:nvPr/>
        </p:nvSpPr>
        <p:spPr>
          <a:xfrm>
            <a:off x="7886700" y="4038600"/>
            <a:ext cx="6419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quantum_bridge_os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139"/>
          <p:cNvSpPr>
            <a:spLocks noGrp="1"/>
          </p:cNvSpPr>
          <p:nvPr/>
        </p:nvSpPr>
        <p:spPr>
          <a:xfrm>
            <a:off x="7886700" y="4476750"/>
            <a:ext cx="6419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Rust Runtime、调度、资源、权限和 Router</a:t>
            </a:r>
            <a:endParaRPr sz="16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8" name="直接箭头连接符 57"/>
          <p:cNvCxnSpPr>
            <a:stCxn id="14" idx="3"/>
            <a:endCxn id="17" idx="1"/>
          </p:cNvCxnSpPr>
          <p:nvPr/>
        </p:nvCxnSpPr>
        <p:spPr>
          <a:xfrm>
            <a:off x="6477000" y="4410075"/>
            <a:ext cx="12382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9" name="直接箭头连接符 58"/>
          <p:cNvCxnSpPr>
            <a:stCxn id="7" idx="2"/>
            <a:endCxn id="14" idx="0"/>
          </p:cNvCxnSpPr>
          <p:nvPr/>
        </p:nvCxnSpPr>
        <p:spPr>
          <a:xfrm>
            <a:off x="3619500" y="3686175"/>
            <a:ext cx="0" cy="257175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2" name="diagram-140"/>
          <p:cNvSpPr>
            <a:spLocks noGrp="1"/>
          </p:cNvSpPr>
          <p:nvPr/>
        </p:nvSpPr>
        <p:spPr>
          <a:xfrm>
            <a:off x="762000" y="5133975"/>
            <a:ext cx="5715000" cy="9334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3" name="text-141"/>
          <p:cNvSpPr>
            <a:spLocks noGrp="1"/>
          </p:cNvSpPr>
          <p:nvPr/>
        </p:nvSpPr>
        <p:spPr>
          <a:xfrm>
            <a:off x="933450" y="5229225"/>
            <a:ext cx="5372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HAL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-142"/>
          <p:cNvSpPr>
            <a:spLocks noGrp="1"/>
          </p:cNvSpPr>
          <p:nvPr/>
        </p:nvSpPr>
        <p:spPr>
          <a:xfrm>
            <a:off x="933450" y="5667375"/>
            <a:ext cx="5372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Gate-to-Pulse / Topology Mapper</a:t>
            </a:r>
            <a:endParaRPr sz="17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diagram-143"/>
          <p:cNvSpPr>
            <a:spLocks noGrp="1"/>
          </p:cNvSpPr>
          <p:nvPr/>
        </p:nvSpPr>
        <p:spPr>
          <a:xfrm>
            <a:off x="7715250" y="5133975"/>
            <a:ext cx="6762750" cy="93345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26" name="text-144"/>
          <p:cNvSpPr>
            <a:spLocks noGrp="1"/>
          </p:cNvSpPr>
          <p:nvPr/>
        </p:nvSpPr>
        <p:spPr>
          <a:xfrm>
            <a:off x="7886700" y="5229225"/>
            <a:ext cx="6419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Core 编译器 + OS 驱动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-145"/>
          <p:cNvSpPr>
            <a:spLocks noGrp="1"/>
          </p:cNvSpPr>
          <p:nvPr/>
        </p:nvSpPr>
        <p:spPr>
          <a:xfrm>
            <a:off x="7886700" y="5667375"/>
            <a:ext cx="6419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QIR / QISA、目标映射、QOS-DP 与设备插件</a:t>
            </a:r>
            <a:endParaRPr sz="16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66" name="直接箭头连接符 65"/>
          <p:cNvCxnSpPr>
            <a:stCxn id="22" idx="3"/>
            <a:endCxn id="25" idx="1"/>
          </p:cNvCxnSpPr>
          <p:nvPr/>
        </p:nvCxnSpPr>
        <p:spPr>
          <a:xfrm>
            <a:off x="6477000" y="5600700"/>
            <a:ext cx="12382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67" name="直接箭头连接符 66"/>
          <p:cNvCxnSpPr>
            <a:stCxn id="14" idx="2"/>
            <a:endCxn id="22" idx="0"/>
          </p:cNvCxnSpPr>
          <p:nvPr/>
        </p:nvCxnSpPr>
        <p:spPr>
          <a:xfrm>
            <a:off x="3619500" y="4876800"/>
            <a:ext cx="0" cy="257175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30" name="diagram-146"/>
          <p:cNvSpPr>
            <a:spLocks noGrp="1"/>
          </p:cNvSpPr>
          <p:nvPr/>
        </p:nvSpPr>
        <p:spPr>
          <a:xfrm>
            <a:off x="762000" y="6324600"/>
            <a:ext cx="5715000" cy="9334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31" name="text-147"/>
          <p:cNvSpPr>
            <a:spLocks noGrp="1"/>
          </p:cNvSpPr>
          <p:nvPr/>
        </p:nvSpPr>
        <p:spPr>
          <a:xfrm>
            <a:off x="933450" y="6419850"/>
            <a:ext cx="5372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Physical Hardware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-148"/>
          <p:cNvSpPr>
            <a:spLocks noGrp="1"/>
          </p:cNvSpPr>
          <p:nvPr/>
        </p:nvSpPr>
        <p:spPr>
          <a:xfrm>
            <a:off x="933450" y="6858000"/>
            <a:ext cx="5372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超导 / 离子阱 / 中性原子</a:t>
            </a:r>
            <a:endParaRPr sz="17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diagram-149"/>
          <p:cNvSpPr>
            <a:spLocks noGrp="1"/>
          </p:cNvSpPr>
          <p:nvPr/>
        </p:nvSpPr>
        <p:spPr>
          <a:xfrm>
            <a:off x="7715250" y="6324600"/>
            <a:ext cx="6762750" cy="93345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34" name="text-150"/>
          <p:cNvSpPr>
            <a:spLocks noGrp="1"/>
          </p:cNvSpPr>
          <p:nvPr/>
        </p:nvSpPr>
        <p:spPr>
          <a:xfrm>
            <a:off x="7886700" y="6419850"/>
            <a:ext cx="6419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硬件 + quantum_bridge_simulator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text-151"/>
          <p:cNvSpPr>
            <a:spLocks noGrp="1"/>
          </p:cNvSpPr>
          <p:nvPr/>
        </p:nvSpPr>
        <p:spPr>
          <a:xfrm>
            <a:off x="7886700" y="6858000"/>
            <a:ext cx="6419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异构 QPU、CPU / GPU、模拟与带噪执行</a:t>
            </a:r>
            <a:endParaRPr sz="16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74" name="直接箭头连接符 73"/>
          <p:cNvCxnSpPr>
            <a:stCxn id="30" idx="3"/>
            <a:endCxn id="33" idx="1"/>
          </p:cNvCxnSpPr>
          <p:nvPr/>
        </p:nvCxnSpPr>
        <p:spPr>
          <a:xfrm>
            <a:off x="6477000" y="6791325"/>
            <a:ext cx="12382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75" name="直接箭头连接符 74"/>
          <p:cNvCxnSpPr>
            <a:stCxn id="22" idx="2"/>
            <a:endCxn id="30" idx="0"/>
          </p:cNvCxnSpPr>
          <p:nvPr/>
        </p:nvCxnSpPr>
        <p:spPr>
          <a:xfrm>
            <a:off x="3619500" y="6067425"/>
            <a:ext cx="0" cy="257175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38" name="text-152"/>
          <p:cNvSpPr>
            <a:spLocks noGrp="1"/>
          </p:cNvSpPr>
          <p:nvPr/>
        </p:nvSpPr>
        <p:spPr>
          <a:xfrm>
            <a:off x="762000" y="7429500"/>
            <a:ext cx="13716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Visual 与 Benchmark 贯穿各层，Studio、契约和工具作为配套目录</a:t>
            </a:r>
            <a:endParaRPr sz="180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text-153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硬件、编译器、QOS 与 QB 的协作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154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运行层次与任务执行路径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155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应用提出问题，QB 构建计算，QOS 管理资源，编译器生成设备可执行制品。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156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157"/>
          <p:cNvSpPr>
            <a:spLocks noGrp="1"/>
          </p:cNvSpPr>
          <p:nvPr/>
        </p:nvSpPr>
        <p:spPr>
          <a:xfrm>
            <a:off x="762000" y="2333625"/>
            <a:ext cx="2453640" cy="183832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158"/>
          <p:cNvSpPr>
            <a:spLocks noGrp="1"/>
          </p:cNvSpPr>
          <p:nvPr/>
        </p:nvSpPr>
        <p:spPr>
          <a:xfrm>
            <a:off x="933450" y="25050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159"/>
          <p:cNvSpPr>
            <a:spLocks noGrp="1"/>
          </p:cNvSpPr>
          <p:nvPr/>
        </p:nvSpPr>
        <p:spPr>
          <a:xfrm>
            <a:off x="933450" y="3076575"/>
            <a:ext cx="211074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科学 / 金融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工业 / 安全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160"/>
          <p:cNvSpPr>
            <a:spLocks noGrp="1"/>
          </p:cNvSpPr>
          <p:nvPr/>
        </p:nvSpPr>
        <p:spPr>
          <a:xfrm>
            <a:off x="3577590" y="2333625"/>
            <a:ext cx="2453640" cy="183832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161"/>
          <p:cNvSpPr>
            <a:spLocks noGrp="1"/>
          </p:cNvSpPr>
          <p:nvPr/>
        </p:nvSpPr>
        <p:spPr>
          <a:xfrm>
            <a:off x="3749040" y="25050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QB SDK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162"/>
          <p:cNvSpPr>
            <a:spLocks noGrp="1"/>
          </p:cNvSpPr>
          <p:nvPr/>
        </p:nvSpPr>
        <p:spPr>
          <a:xfrm>
            <a:off x="3749040" y="3076575"/>
            <a:ext cx="211074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建模 / 前端编译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QIR / QASM / 梯度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163"/>
          <p:cNvSpPr>
            <a:spLocks noGrp="1"/>
          </p:cNvSpPr>
          <p:nvPr/>
        </p:nvSpPr>
        <p:spPr>
          <a:xfrm>
            <a:off x="6393180" y="2333625"/>
            <a:ext cx="2453640" cy="183832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164"/>
          <p:cNvSpPr>
            <a:spLocks noGrp="1"/>
          </p:cNvSpPr>
          <p:nvPr/>
        </p:nvSpPr>
        <p:spPr>
          <a:xfrm>
            <a:off x="6564630" y="25050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165"/>
          <p:cNvSpPr>
            <a:spLocks noGrp="1"/>
          </p:cNvSpPr>
          <p:nvPr/>
        </p:nvSpPr>
        <p:spPr>
          <a:xfrm>
            <a:off x="6564630" y="3076575"/>
            <a:ext cx="211074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调度 / 资源 / 安全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生命周期与校准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166"/>
          <p:cNvSpPr>
            <a:spLocks noGrp="1"/>
          </p:cNvSpPr>
          <p:nvPr/>
        </p:nvSpPr>
        <p:spPr>
          <a:xfrm>
            <a:off x="9208770" y="2333625"/>
            <a:ext cx="2453640" cy="183832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5" name="text-167"/>
          <p:cNvSpPr>
            <a:spLocks noGrp="1"/>
          </p:cNvSpPr>
          <p:nvPr/>
        </p:nvSpPr>
        <p:spPr>
          <a:xfrm>
            <a:off x="9380220" y="25050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编译器 + HAL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168"/>
          <p:cNvSpPr>
            <a:spLocks noGrp="1"/>
          </p:cNvSpPr>
          <p:nvPr/>
        </p:nvSpPr>
        <p:spPr>
          <a:xfrm>
            <a:off x="9380220" y="3076575"/>
            <a:ext cx="211074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目标映射 / 脉冲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QOS-DP / 驱动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diagram-169"/>
          <p:cNvSpPr>
            <a:spLocks noGrp="1"/>
          </p:cNvSpPr>
          <p:nvPr/>
        </p:nvSpPr>
        <p:spPr>
          <a:xfrm>
            <a:off x="12024360" y="2333625"/>
            <a:ext cx="2453640" cy="183832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8" name="text-170"/>
          <p:cNvSpPr>
            <a:spLocks noGrp="1"/>
          </p:cNvSpPr>
          <p:nvPr/>
        </p:nvSpPr>
        <p:spPr>
          <a:xfrm>
            <a:off x="12195810" y="25050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硬件 / 模拟器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171"/>
          <p:cNvSpPr>
            <a:spLocks noGrp="1"/>
          </p:cNvSpPr>
          <p:nvPr/>
        </p:nvSpPr>
        <p:spPr>
          <a:xfrm>
            <a:off x="12195810" y="3076575"/>
            <a:ext cx="211074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执行与采样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设备事件与结果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1" name="直接箭头连接符 50"/>
          <p:cNvCxnSpPr>
            <a:stCxn id="5" idx="3"/>
            <a:endCxn id="8" idx="1"/>
          </p:cNvCxnSpPr>
          <p:nvPr/>
        </p:nvCxnSpPr>
        <p:spPr>
          <a:xfrm>
            <a:off x="3215640" y="3252788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2" name="直接箭头连接符 51"/>
          <p:cNvCxnSpPr>
            <a:stCxn id="8" idx="3"/>
            <a:endCxn id="11" idx="1"/>
          </p:cNvCxnSpPr>
          <p:nvPr/>
        </p:nvCxnSpPr>
        <p:spPr>
          <a:xfrm>
            <a:off x="6031230" y="3252788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3" name="直接箭头连接符 52"/>
          <p:cNvCxnSpPr>
            <a:stCxn id="11" idx="3"/>
            <a:endCxn id="14" idx="1"/>
          </p:cNvCxnSpPr>
          <p:nvPr/>
        </p:nvCxnSpPr>
        <p:spPr>
          <a:xfrm>
            <a:off x="8846820" y="3252788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4" name="直接箭头连接符 53"/>
          <p:cNvCxnSpPr>
            <a:stCxn id="14" idx="3"/>
            <a:endCxn id="17" idx="1"/>
          </p:cNvCxnSpPr>
          <p:nvPr/>
        </p:nvCxnSpPr>
        <p:spPr>
          <a:xfrm>
            <a:off x="11662410" y="3252788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5" name="肘形连接符 54"/>
          <p:cNvCxnSpPr>
            <a:stCxn id="17" idx="2"/>
            <a:endCxn id="5" idx="2"/>
          </p:cNvCxnSpPr>
          <p:nvPr/>
        </p:nvCxnSpPr>
        <p:spPr>
          <a:xfrm flipH="1">
            <a:off x="1988820" y="4171950"/>
            <a:ext cx="11262360" cy="228600"/>
          </a:xfrm>
          <a:prstGeom prst="bentConnector4">
            <a:avLst/>
          </a:prstGeom>
          <a:ln w="22860">
            <a:solidFill>
              <a:srgbClr val="205FBC"/>
            </a:solidFill>
            <a:prstDash val="dash"/>
            <a:tailEnd type="triangle" w="sm" len="sm"/>
          </a:ln>
        </p:spPr>
      </p:cxnSp>
      <p:sp>
        <p:nvSpPr>
          <p:cNvPr id="25" name="text-172"/>
          <p:cNvSpPr>
            <a:spLocks noGrp="1"/>
          </p:cNvSpPr>
          <p:nvPr/>
        </p:nvSpPr>
        <p:spPr>
          <a:xfrm>
            <a:off x="3619500" y="4429125"/>
            <a:ext cx="876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205FB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205FB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Result / Event 回传，统一记录运行溯源</a:t>
            </a:r>
            <a:endParaRPr sz="1800" b="0">
              <a:solidFill>
                <a:srgbClr val="205FB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173"/>
          <p:cNvSpPr>
            <a:spLocks noGrp="1"/>
          </p:cNvSpPr>
          <p:nvPr/>
        </p:nvSpPr>
        <p:spPr>
          <a:xfrm>
            <a:off x="762000" y="5410200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Core 的双层职责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-174"/>
          <p:cNvSpPr>
            <a:spLocks noGrp="1"/>
          </p:cNvSpPr>
          <p:nvPr/>
        </p:nvSpPr>
        <p:spPr>
          <a:xfrm>
            <a:off x="762000" y="6019800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QB 中提供电路与算子 API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编译层提供逻辑和目标优化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-175"/>
          <p:cNvSpPr>
            <a:spLocks noGrp="1"/>
          </p:cNvSpPr>
          <p:nvPr/>
        </p:nvSpPr>
        <p:spPr>
          <a:xfrm>
            <a:off x="5499100" y="5410200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 的唯一作业状态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-176"/>
          <p:cNvSpPr>
            <a:spLocks noGrp="1"/>
          </p:cNvSpPr>
          <p:nvPr/>
        </p:nvSpPr>
        <p:spPr>
          <a:xfrm>
            <a:off x="5499100" y="6019800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调度、取消、重试与恢复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统一管理，不由各行业复制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text-177"/>
          <p:cNvSpPr>
            <a:spLocks noGrp="1"/>
          </p:cNvSpPr>
          <p:nvPr/>
        </p:nvSpPr>
        <p:spPr>
          <a:xfrm>
            <a:off x="10236200" y="5410200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设备差异由插件承担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text-178"/>
          <p:cNvSpPr>
            <a:spLocks noGrp="1"/>
          </p:cNvSpPr>
          <p:nvPr/>
        </p:nvSpPr>
        <p:spPr>
          <a:xfrm>
            <a:off x="10236200" y="6019800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门集、拓扑、脉冲与测量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通过 DeviceSpec 协商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text-179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硬件基座与统一设备接入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180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 / HAL / Provider / Simulator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181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硬件是目标接入范围；每个插件通过能力发现、协议和设备测试后进入支持清单。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182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183"/>
          <p:cNvSpPr>
            <a:spLocks noGrp="1"/>
          </p:cNvSpPr>
          <p:nvPr/>
        </p:nvSpPr>
        <p:spPr>
          <a:xfrm>
            <a:off x="762000" y="2381250"/>
            <a:ext cx="3143250" cy="1485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184"/>
          <p:cNvSpPr>
            <a:spLocks noGrp="1"/>
          </p:cNvSpPr>
          <p:nvPr/>
        </p:nvSpPr>
        <p:spPr>
          <a:xfrm>
            <a:off x="933450" y="2552700"/>
            <a:ext cx="28003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超导 QPU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185"/>
          <p:cNvSpPr>
            <a:spLocks noGrp="1"/>
          </p:cNvSpPr>
          <p:nvPr/>
        </p:nvSpPr>
        <p:spPr>
          <a:xfrm>
            <a:off x="933450" y="3171825"/>
            <a:ext cx="28003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国产芯片 / IBM 等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186"/>
          <p:cNvSpPr>
            <a:spLocks noGrp="1"/>
          </p:cNvSpPr>
          <p:nvPr/>
        </p:nvSpPr>
        <p:spPr>
          <a:xfrm>
            <a:off x="4286250" y="2381250"/>
            <a:ext cx="3143250" cy="1485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187"/>
          <p:cNvSpPr>
            <a:spLocks noGrp="1"/>
          </p:cNvSpPr>
          <p:nvPr/>
        </p:nvSpPr>
        <p:spPr>
          <a:xfrm>
            <a:off x="4457700" y="2552700"/>
            <a:ext cx="28003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离子与中性原子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188"/>
          <p:cNvSpPr>
            <a:spLocks noGrp="1"/>
          </p:cNvSpPr>
          <p:nvPr/>
        </p:nvSpPr>
        <p:spPr>
          <a:xfrm>
            <a:off x="4457700" y="3171825"/>
            <a:ext cx="28003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不同门集与连接结构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189"/>
          <p:cNvSpPr>
            <a:spLocks noGrp="1"/>
          </p:cNvSpPr>
          <p:nvPr/>
        </p:nvSpPr>
        <p:spPr>
          <a:xfrm>
            <a:off x="7810500" y="2381250"/>
            <a:ext cx="3143250" cy="1485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190"/>
          <p:cNvSpPr>
            <a:spLocks noGrp="1"/>
          </p:cNvSpPr>
          <p:nvPr/>
        </p:nvSpPr>
        <p:spPr>
          <a:xfrm>
            <a:off x="7981950" y="2552700"/>
            <a:ext cx="28003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光量子设备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191"/>
          <p:cNvSpPr>
            <a:spLocks noGrp="1"/>
          </p:cNvSpPr>
          <p:nvPr/>
        </p:nvSpPr>
        <p:spPr>
          <a:xfrm>
            <a:off x="7981950" y="3171825"/>
            <a:ext cx="28003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光子门 / 连续变量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192"/>
          <p:cNvSpPr>
            <a:spLocks noGrp="1"/>
          </p:cNvSpPr>
          <p:nvPr/>
        </p:nvSpPr>
        <p:spPr>
          <a:xfrm>
            <a:off x="11334750" y="2381250"/>
            <a:ext cx="3143250" cy="1485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5" name="text-193"/>
          <p:cNvSpPr>
            <a:spLocks noGrp="1"/>
          </p:cNvSpPr>
          <p:nvPr/>
        </p:nvSpPr>
        <p:spPr>
          <a:xfrm>
            <a:off x="11506200" y="2552700"/>
            <a:ext cx="28003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CPU / GPU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194"/>
          <p:cNvSpPr>
            <a:spLocks noGrp="1"/>
          </p:cNvSpPr>
          <p:nvPr/>
        </p:nvSpPr>
        <p:spPr>
          <a:xfrm>
            <a:off x="11506200" y="3171825"/>
            <a:ext cx="28003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原生与外部模拟器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diagram-195"/>
          <p:cNvSpPr>
            <a:spLocks noGrp="1"/>
          </p:cNvSpPr>
          <p:nvPr/>
        </p:nvSpPr>
        <p:spPr>
          <a:xfrm>
            <a:off x="2952750" y="4667250"/>
            <a:ext cx="9334500" cy="1000125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18" name="text-196"/>
          <p:cNvSpPr>
            <a:spLocks noGrp="1"/>
          </p:cNvSpPr>
          <p:nvPr/>
        </p:nvSpPr>
        <p:spPr>
          <a:xfrm>
            <a:off x="3124200" y="4762500"/>
            <a:ext cx="8991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QOS-DP + HAL / Provider 协议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197"/>
          <p:cNvSpPr>
            <a:spLocks noGrp="1"/>
          </p:cNvSpPr>
          <p:nvPr/>
        </p:nvSpPr>
        <p:spPr>
          <a:xfrm>
            <a:off x="3124200" y="5238750"/>
            <a:ext cx="8991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驱动加载、设备发现、量子比特分配、执行、读取与资源释放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7" name="肘形连接符 46"/>
          <p:cNvCxnSpPr>
            <a:stCxn id="5" idx="2"/>
            <a:endCxn id="17" idx="0"/>
          </p:cNvCxnSpPr>
          <p:nvPr/>
        </p:nvCxnSpPr>
        <p:spPr>
          <a:xfrm>
            <a:off x="2333625" y="3867150"/>
            <a:ext cx="5286375" cy="8001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48" name="肘形连接符 47"/>
          <p:cNvCxnSpPr>
            <a:stCxn id="8" idx="2"/>
            <a:endCxn id="17" idx="0"/>
          </p:cNvCxnSpPr>
          <p:nvPr/>
        </p:nvCxnSpPr>
        <p:spPr>
          <a:xfrm>
            <a:off x="5857875" y="3867150"/>
            <a:ext cx="1762125" cy="8001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49" name="肘形连接符 48"/>
          <p:cNvCxnSpPr>
            <a:stCxn id="11" idx="2"/>
            <a:endCxn id="17" idx="0"/>
          </p:cNvCxnSpPr>
          <p:nvPr/>
        </p:nvCxnSpPr>
        <p:spPr>
          <a:xfrm flipH="1">
            <a:off x="7620000" y="3867150"/>
            <a:ext cx="1762125" cy="8001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0" name="肘形连接符 49"/>
          <p:cNvCxnSpPr>
            <a:stCxn id="14" idx="2"/>
            <a:endCxn id="17" idx="0"/>
          </p:cNvCxnSpPr>
          <p:nvPr/>
        </p:nvCxnSpPr>
        <p:spPr>
          <a:xfrm flipH="1">
            <a:off x="7620000" y="3867150"/>
            <a:ext cx="5286375" cy="8001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4" name="diagram-198"/>
          <p:cNvSpPr>
            <a:spLocks noGrp="1"/>
          </p:cNvSpPr>
          <p:nvPr/>
        </p:nvSpPr>
        <p:spPr>
          <a:xfrm>
            <a:off x="2952750" y="6362700"/>
            <a:ext cx="9334500" cy="9429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5" name="text-199"/>
          <p:cNvSpPr>
            <a:spLocks noGrp="1"/>
          </p:cNvSpPr>
          <p:nvPr/>
        </p:nvSpPr>
        <p:spPr>
          <a:xfrm>
            <a:off x="3124200" y="6457950"/>
            <a:ext cx="8991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DeviceSpec + CalSet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200"/>
          <p:cNvSpPr>
            <a:spLocks noGrp="1"/>
          </p:cNvSpPr>
          <p:nvPr/>
        </p:nvSpPr>
        <p:spPr>
          <a:xfrm>
            <a:off x="3124200" y="6915150"/>
            <a:ext cx="89916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门集 / 拓扑 / 资源 / 校准 / 时效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4" name="直接箭头连接符 53"/>
          <p:cNvCxnSpPr>
            <a:stCxn id="17" idx="2"/>
            <a:endCxn id="24" idx="0"/>
          </p:cNvCxnSpPr>
          <p:nvPr/>
        </p:nvCxnSpPr>
        <p:spPr>
          <a:xfrm>
            <a:off x="7620000" y="5667375"/>
            <a:ext cx="0" cy="695325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text-201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编译器：逻辑程序到设备执行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202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quantum_bridge_core.compiler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203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SDK 可完成前端优化，QOS 调用目标编译服务，制品绑定设备与校准版本。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204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205"/>
          <p:cNvSpPr>
            <a:spLocks noGrp="1"/>
          </p:cNvSpPr>
          <p:nvPr/>
        </p:nvSpPr>
        <p:spPr>
          <a:xfrm>
            <a:off x="762000" y="2343150"/>
            <a:ext cx="2453640" cy="20193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206"/>
          <p:cNvSpPr>
            <a:spLocks noGrp="1"/>
          </p:cNvSpPr>
          <p:nvPr/>
        </p:nvSpPr>
        <p:spPr>
          <a:xfrm>
            <a:off x="933450" y="2514600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输入与捕获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207"/>
          <p:cNvSpPr>
            <a:spLocks noGrp="1"/>
          </p:cNvSpPr>
          <p:nvPr/>
        </p:nvSpPr>
        <p:spPr>
          <a:xfrm>
            <a:off x="933450" y="3086100"/>
            <a:ext cx="211074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QNode / Circuit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OpenQASM / 外部适配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208"/>
          <p:cNvSpPr>
            <a:spLocks noGrp="1"/>
          </p:cNvSpPr>
          <p:nvPr/>
        </p:nvSpPr>
        <p:spPr>
          <a:xfrm>
            <a:off x="3577590" y="2343150"/>
            <a:ext cx="2453640" cy="20193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209"/>
          <p:cNvSpPr>
            <a:spLocks noGrp="1"/>
          </p:cNvSpPr>
          <p:nvPr/>
        </p:nvSpPr>
        <p:spPr>
          <a:xfrm>
            <a:off x="3749040" y="2514600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 IR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210"/>
          <p:cNvSpPr>
            <a:spLocks noGrp="1"/>
          </p:cNvSpPr>
          <p:nvPr/>
        </p:nvSpPr>
        <p:spPr>
          <a:xfrm>
            <a:off x="3749040" y="3086100"/>
            <a:ext cx="211074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类型与参数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控制流与测量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211"/>
          <p:cNvSpPr>
            <a:spLocks noGrp="1"/>
          </p:cNvSpPr>
          <p:nvPr/>
        </p:nvSpPr>
        <p:spPr>
          <a:xfrm>
            <a:off x="6393180" y="2343150"/>
            <a:ext cx="2453640" cy="20193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212"/>
          <p:cNvSpPr>
            <a:spLocks noGrp="1"/>
          </p:cNvSpPr>
          <p:nvPr/>
        </p:nvSpPr>
        <p:spPr>
          <a:xfrm>
            <a:off x="6564630" y="2514600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逻辑优化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213"/>
          <p:cNvSpPr>
            <a:spLocks noGrp="1"/>
          </p:cNvSpPr>
          <p:nvPr/>
        </p:nvSpPr>
        <p:spPr>
          <a:xfrm>
            <a:off x="6564630" y="3086100"/>
            <a:ext cx="211074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门分解 / 合并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消冗 / 测量分组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214"/>
          <p:cNvSpPr>
            <a:spLocks noGrp="1"/>
          </p:cNvSpPr>
          <p:nvPr/>
        </p:nvSpPr>
        <p:spPr>
          <a:xfrm>
            <a:off x="9208770" y="2343150"/>
            <a:ext cx="2453640" cy="20193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5" name="text-215"/>
          <p:cNvSpPr>
            <a:spLocks noGrp="1"/>
          </p:cNvSpPr>
          <p:nvPr/>
        </p:nvSpPr>
        <p:spPr>
          <a:xfrm>
            <a:off x="9380220" y="2514600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目标适配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216"/>
          <p:cNvSpPr>
            <a:spLocks noGrp="1"/>
          </p:cNvSpPr>
          <p:nvPr/>
        </p:nvSpPr>
        <p:spPr>
          <a:xfrm>
            <a:off x="9380220" y="3086100"/>
            <a:ext cx="211074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布局 / SWAP 路由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噪声与校准约束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diagram-217"/>
          <p:cNvSpPr>
            <a:spLocks noGrp="1"/>
          </p:cNvSpPr>
          <p:nvPr/>
        </p:nvSpPr>
        <p:spPr>
          <a:xfrm>
            <a:off x="12024360" y="2343150"/>
            <a:ext cx="2453640" cy="20193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8" name="text-218"/>
          <p:cNvSpPr>
            <a:spLocks noGrp="1"/>
          </p:cNvSpPr>
          <p:nvPr/>
        </p:nvSpPr>
        <p:spPr>
          <a:xfrm>
            <a:off x="12195810" y="2514600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可执行制品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219"/>
          <p:cNvSpPr>
            <a:spLocks noGrp="1"/>
          </p:cNvSpPr>
          <p:nvPr/>
        </p:nvSpPr>
        <p:spPr>
          <a:xfrm>
            <a:off x="12195810" y="3086100"/>
            <a:ext cx="211074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QIR / QISA / 门序列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微波 / 激光脉冲扩展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9" name="直接箭头连接符 48"/>
          <p:cNvCxnSpPr>
            <a:stCxn id="5" idx="3"/>
            <a:endCxn id="8" idx="1"/>
          </p:cNvCxnSpPr>
          <p:nvPr/>
        </p:nvCxnSpPr>
        <p:spPr>
          <a:xfrm>
            <a:off x="3215640" y="3352800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0" name="直接箭头连接符 49"/>
          <p:cNvCxnSpPr>
            <a:stCxn id="8" idx="3"/>
            <a:endCxn id="11" idx="1"/>
          </p:cNvCxnSpPr>
          <p:nvPr/>
        </p:nvCxnSpPr>
        <p:spPr>
          <a:xfrm>
            <a:off x="6031230" y="3352800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1" name="直接箭头连接符 50"/>
          <p:cNvCxnSpPr>
            <a:stCxn id="11" idx="3"/>
            <a:endCxn id="14" idx="1"/>
          </p:cNvCxnSpPr>
          <p:nvPr/>
        </p:nvCxnSpPr>
        <p:spPr>
          <a:xfrm>
            <a:off x="8846820" y="3352800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2" name="直接箭头连接符 51"/>
          <p:cNvCxnSpPr>
            <a:stCxn id="14" idx="3"/>
            <a:endCxn id="17" idx="1"/>
          </p:cNvCxnSpPr>
          <p:nvPr/>
        </p:nvCxnSpPr>
        <p:spPr>
          <a:xfrm>
            <a:off x="11662410" y="3352800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4" name="text-220"/>
          <p:cNvSpPr>
            <a:spLocks noGrp="1"/>
          </p:cNvSpPr>
          <p:nvPr/>
        </p:nvSpPr>
        <p:spPr>
          <a:xfrm>
            <a:off x="762000" y="538162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动态与 JIT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-221"/>
          <p:cNvSpPr>
            <a:spLocks noGrp="1"/>
          </p:cNvSpPr>
          <p:nvPr/>
        </p:nvSpPr>
        <p:spPr>
          <a:xfrm>
            <a:off x="762000" y="599122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条件 / 循环 / 自适应线路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追踪、缓存与运行时协同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222"/>
          <p:cNvSpPr>
            <a:spLocks noGrp="1"/>
          </p:cNvSpPr>
          <p:nvPr/>
        </p:nvSpPr>
        <p:spPr>
          <a:xfrm>
            <a:off x="5499100" y="538162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已有补充能力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-223"/>
          <p:cNvSpPr>
            <a:spLocks noGrp="1"/>
          </p:cNvSpPr>
          <p:nvPr/>
        </p:nvSpPr>
        <p:spPr>
          <a:xfrm>
            <a:off x="5499100" y="599122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LLVM / QISA 编译原型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Core pass 与 MQT 路由入口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-224"/>
          <p:cNvSpPr>
            <a:spLocks noGrp="1"/>
          </p:cNvSpPr>
          <p:nvPr/>
        </p:nvSpPr>
        <p:spPr>
          <a:xfrm>
            <a:off x="10236200" y="538162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编译报告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-225"/>
          <p:cNvSpPr>
            <a:spLocks noGrp="1"/>
          </p:cNvSpPr>
          <p:nvPr/>
        </p:nvSpPr>
        <p:spPr>
          <a:xfrm>
            <a:off x="10236200" y="599122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深度、门数与资源估计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语义差异和不支持原因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text-226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QOS：微内核与运行服务框架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227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quantum_bridge_os + 独立 QuantumOS Runtime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228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Python 分包提供客户端与协议适配，Rust 内核运行服务独立部署。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229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230"/>
          <p:cNvSpPr>
            <a:spLocks noGrp="1"/>
          </p:cNvSpPr>
          <p:nvPr/>
        </p:nvSpPr>
        <p:spPr>
          <a:xfrm>
            <a:off x="762000" y="2124075"/>
            <a:ext cx="13716000" cy="8667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231"/>
          <p:cNvSpPr>
            <a:spLocks noGrp="1"/>
          </p:cNvSpPr>
          <p:nvPr/>
        </p:nvSpPr>
        <p:spPr>
          <a:xfrm>
            <a:off x="933450" y="2219325"/>
            <a:ext cx="133731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QB / Studio / API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232"/>
          <p:cNvSpPr>
            <a:spLocks noGrp="1"/>
          </p:cNvSpPr>
          <p:nvPr/>
        </p:nvSpPr>
        <p:spPr>
          <a:xfrm>
            <a:off x="933450" y="2619375"/>
            <a:ext cx="133731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QIR / QASM / JobSpec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233"/>
          <p:cNvSpPr>
            <a:spLocks noGrp="1"/>
          </p:cNvSpPr>
          <p:nvPr/>
        </p:nvSpPr>
        <p:spPr>
          <a:xfrm>
            <a:off x="4762500" y="3400425"/>
            <a:ext cx="5715000" cy="93345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9" name="text-234"/>
          <p:cNvSpPr>
            <a:spLocks noGrp="1"/>
          </p:cNvSpPr>
          <p:nvPr/>
        </p:nvSpPr>
        <p:spPr>
          <a:xfrm>
            <a:off x="4933950" y="3495675"/>
            <a:ext cx="53721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Router / 准入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235"/>
          <p:cNvSpPr>
            <a:spLocks noGrp="1"/>
          </p:cNvSpPr>
          <p:nvPr/>
        </p:nvSpPr>
        <p:spPr>
          <a:xfrm>
            <a:off x="4933950" y="3924300"/>
            <a:ext cx="53721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后端推荐、SLA、预算与能力校验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0" name="直接箭头连接符 39"/>
          <p:cNvCxnSpPr>
            <a:stCxn id="5" idx="2"/>
            <a:endCxn id="8" idx="0"/>
          </p:cNvCxnSpPr>
          <p:nvPr/>
        </p:nvCxnSpPr>
        <p:spPr>
          <a:xfrm>
            <a:off x="7620000" y="2990850"/>
            <a:ext cx="0" cy="409575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2" name="diagram-236"/>
          <p:cNvSpPr>
            <a:spLocks noGrp="1"/>
          </p:cNvSpPr>
          <p:nvPr/>
        </p:nvSpPr>
        <p:spPr>
          <a:xfrm>
            <a:off x="762000" y="4848225"/>
            <a:ext cx="4191000" cy="14382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3" name="text-237"/>
          <p:cNvSpPr>
            <a:spLocks noGrp="1"/>
          </p:cNvSpPr>
          <p:nvPr/>
        </p:nvSpPr>
        <p:spPr>
          <a:xfrm>
            <a:off x="933450" y="5019675"/>
            <a:ext cx="38481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Scheduler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238"/>
          <p:cNvSpPr>
            <a:spLocks noGrp="1"/>
          </p:cNvSpPr>
          <p:nvPr/>
        </p:nvSpPr>
        <p:spPr>
          <a:xfrm>
            <a:off x="933450" y="5476875"/>
            <a:ext cx="38481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MLFQ / 优先级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会话与安全让出点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diagram-239"/>
          <p:cNvSpPr>
            <a:spLocks noGrp="1"/>
          </p:cNvSpPr>
          <p:nvPr/>
        </p:nvSpPr>
        <p:spPr>
          <a:xfrm>
            <a:off x="5524500" y="4848225"/>
            <a:ext cx="4191000" cy="14382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6" name="text-240"/>
          <p:cNvSpPr>
            <a:spLocks noGrp="1"/>
          </p:cNvSpPr>
          <p:nvPr/>
        </p:nvSpPr>
        <p:spPr>
          <a:xfrm>
            <a:off x="5695950" y="5019675"/>
            <a:ext cx="38481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Resource Manager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-241"/>
          <p:cNvSpPr>
            <a:spLocks noGrp="1"/>
          </p:cNvSpPr>
          <p:nvPr/>
        </p:nvSpPr>
        <p:spPr>
          <a:xfrm>
            <a:off x="5695950" y="5476875"/>
            <a:ext cx="38481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量子比特 / 拓扑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预约 / 租约 / 校准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diagram-242"/>
          <p:cNvSpPr>
            <a:spLocks noGrp="1"/>
          </p:cNvSpPr>
          <p:nvPr/>
        </p:nvSpPr>
        <p:spPr>
          <a:xfrm>
            <a:off x="10287000" y="4848225"/>
            <a:ext cx="4191000" cy="14382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9" name="text-243"/>
          <p:cNvSpPr>
            <a:spLocks noGrp="1"/>
          </p:cNvSpPr>
          <p:nvPr/>
        </p:nvSpPr>
        <p:spPr>
          <a:xfrm>
            <a:off x="10458450" y="5019675"/>
            <a:ext cx="38481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Security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-244"/>
          <p:cNvSpPr>
            <a:spLocks noGrp="1"/>
          </p:cNvSpPr>
          <p:nvPr/>
        </p:nvSpPr>
        <p:spPr>
          <a:xfrm>
            <a:off x="10458450" y="5476875"/>
            <a:ext cx="38481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租户 / 权限 / 配额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凭据隔离与审计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0" name="肘形连接符 49"/>
          <p:cNvCxnSpPr>
            <a:stCxn id="8" idx="2"/>
            <a:endCxn id="12" idx="0"/>
          </p:cNvCxnSpPr>
          <p:nvPr/>
        </p:nvCxnSpPr>
        <p:spPr>
          <a:xfrm flipH="1">
            <a:off x="2857500" y="4333875"/>
            <a:ext cx="4762500" cy="51435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1" name="直接箭头连接符 50"/>
          <p:cNvCxnSpPr>
            <a:stCxn id="8" idx="2"/>
            <a:endCxn id="15" idx="0"/>
          </p:cNvCxnSpPr>
          <p:nvPr/>
        </p:nvCxnSpPr>
        <p:spPr>
          <a:xfrm>
            <a:off x="7620000" y="4333875"/>
            <a:ext cx="0" cy="51435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2" name="肘形连接符 51"/>
          <p:cNvCxnSpPr>
            <a:stCxn id="8" idx="2"/>
            <a:endCxn id="18" idx="0"/>
          </p:cNvCxnSpPr>
          <p:nvPr/>
        </p:nvCxnSpPr>
        <p:spPr>
          <a:xfrm>
            <a:off x="7620000" y="4333875"/>
            <a:ext cx="4762500" cy="51435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4" name="diagram-245"/>
          <p:cNvSpPr>
            <a:spLocks noGrp="1"/>
          </p:cNvSpPr>
          <p:nvPr/>
        </p:nvSpPr>
        <p:spPr>
          <a:xfrm>
            <a:off x="2333625" y="6791325"/>
            <a:ext cx="10572750" cy="78105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25" name="text-246"/>
          <p:cNvSpPr>
            <a:spLocks noGrp="1"/>
          </p:cNvSpPr>
          <p:nvPr/>
        </p:nvSpPr>
        <p:spPr>
          <a:xfrm>
            <a:off x="2505075" y="6886575"/>
            <a:ext cx="10229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Runtime / Worker / JobStore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247"/>
          <p:cNvSpPr>
            <a:spLocks noGrp="1"/>
          </p:cNvSpPr>
          <p:nvPr/>
        </p:nvSpPr>
        <p:spPr>
          <a:xfrm>
            <a:off x="2505075" y="7219950"/>
            <a:ext cx="10229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QOS-DP、编译与 HAL 调用，统一状态、取消、恢复和结果归档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6" name="肘形连接符 55"/>
          <p:cNvCxnSpPr>
            <a:stCxn id="12" idx="2"/>
            <a:endCxn id="24" idx="0"/>
          </p:cNvCxnSpPr>
          <p:nvPr/>
        </p:nvCxnSpPr>
        <p:spPr>
          <a:xfrm>
            <a:off x="2857500" y="6286500"/>
            <a:ext cx="4762500" cy="504825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7" name="直接箭头连接符 56"/>
          <p:cNvCxnSpPr>
            <a:stCxn id="15" idx="2"/>
            <a:endCxn id="24" idx="0"/>
          </p:cNvCxnSpPr>
          <p:nvPr/>
        </p:nvCxnSpPr>
        <p:spPr>
          <a:xfrm>
            <a:off x="7620000" y="6286500"/>
            <a:ext cx="0" cy="504825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8" name="肘形连接符 57"/>
          <p:cNvCxnSpPr>
            <a:stCxn id="18" idx="2"/>
            <a:endCxn id="24" idx="0"/>
          </p:cNvCxnSpPr>
          <p:nvPr/>
        </p:nvCxnSpPr>
        <p:spPr>
          <a:xfrm flipH="1">
            <a:off x="7620000" y="6286500"/>
            <a:ext cx="4762500" cy="504825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text-248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 调度：多级反馈队列与混合任务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249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参考 QuantumOS MLFQ 状态图，补充量子任务的调度边界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250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时间片与优先级属于目标策略，量子作业在批次、测量或会话边界安全让出。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251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252"/>
          <p:cNvSpPr>
            <a:spLocks noGrp="1"/>
          </p:cNvSpPr>
          <p:nvPr/>
        </p:nvSpPr>
        <p:spPr>
          <a:xfrm>
            <a:off x="762000" y="2143125"/>
            <a:ext cx="3048000" cy="9429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253"/>
          <p:cNvSpPr>
            <a:spLocks noGrp="1"/>
          </p:cNvSpPr>
          <p:nvPr/>
        </p:nvSpPr>
        <p:spPr>
          <a:xfrm>
            <a:off x="933450" y="2238375"/>
            <a:ext cx="27051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任务准入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254"/>
          <p:cNvSpPr>
            <a:spLocks noGrp="1"/>
          </p:cNvSpPr>
          <p:nvPr/>
        </p:nvSpPr>
        <p:spPr>
          <a:xfrm>
            <a:off x="933450" y="2667000"/>
            <a:ext cx="2705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JobSpec / 配额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255"/>
          <p:cNvSpPr>
            <a:spLocks noGrp="1"/>
          </p:cNvSpPr>
          <p:nvPr/>
        </p:nvSpPr>
        <p:spPr>
          <a:xfrm>
            <a:off x="4905375" y="2143125"/>
            <a:ext cx="3714750" cy="103822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256"/>
          <p:cNvSpPr>
            <a:spLocks noGrp="1"/>
          </p:cNvSpPr>
          <p:nvPr/>
        </p:nvSpPr>
        <p:spPr>
          <a:xfrm>
            <a:off x="5076825" y="2238375"/>
            <a:ext cx="3371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Q1 高优先级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257"/>
          <p:cNvSpPr>
            <a:spLocks noGrp="1"/>
          </p:cNvSpPr>
          <p:nvPr/>
        </p:nvSpPr>
        <p:spPr>
          <a:xfrm>
            <a:off x="5076825" y="2724150"/>
            <a:ext cx="3371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交互 / 短任务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258"/>
          <p:cNvSpPr>
            <a:spLocks noGrp="1"/>
          </p:cNvSpPr>
          <p:nvPr/>
        </p:nvSpPr>
        <p:spPr>
          <a:xfrm>
            <a:off x="4905375" y="3648075"/>
            <a:ext cx="3714750" cy="103822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259"/>
          <p:cNvSpPr>
            <a:spLocks noGrp="1"/>
          </p:cNvSpPr>
          <p:nvPr/>
        </p:nvSpPr>
        <p:spPr>
          <a:xfrm>
            <a:off x="5076825" y="3743325"/>
            <a:ext cx="3371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Q2 普通队列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260"/>
          <p:cNvSpPr>
            <a:spLocks noGrp="1"/>
          </p:cNvSpPr>
          <p:nvPr/>
        </p:nvSpPr>
        <p:spPr>
          <a:xfrm>
            <a:off x="5076825" y="4229100"/>
            <a:ext cx="3371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混合算法批次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261"/>
          <p:cNvSpPr>
            <a:spLocks noGrp="1"/>
          </p:cNvSpPr>
          <p:nvPr/>
        </p:nvSpPr>
        <p:spPr>
          <a:xfrm>
            <a:off x="4905375" y="5153025"/>
            <a:ext cx="3714750" cy="103822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5" name="text-262"/>
          <p:cNvSpPr>
            <a:spLocks noGrp="1"/>
          </p:cNvSpPr>
          <p:nvPr/>
        </p:nvSpPr>
        <p:spPr>
          <a:xfrm>
            <a:off x="5076825" y="5248275"/>
            <a:ext cx="3371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Q3 后台队列</a:t>
            </a:r>
            <a:endParaRPr sz="210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263"/>
          <p:cNvSpPr>
            <a:spLocks noGrp="1"/>
          </p:cNvSpPr>
          <p:nvPr/>
        </p:nvSpPr>
        <p:spPr>
          <a:xfrm>
            <a:off x="5076825" y="5734050"/>
            <a:ext cx="3371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长作业 / 基准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62" name="直接箭头连接符 61"/>
          <p:cNvCxnSpPr>
            <a:stCxn id="5" idx="3"/>
            <a:endCxn id="8" idx="1"/>
          </p:cNvCxnSpPr>
          <p:nvPr/>
        </p:nvCxnSpPr>
        <p:spPr>
          <a:xfrm>
            <a:off x="3810000" y="2614613"/>
            <a:ext cx="1095375" cy="47625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63" name="直接箭头连接符 62"/>
          <p:cNvCxnSpPr>
            <a:stCxn id="8" idx="2"/>
            <a:endCxn id="11" idx="0"/>
          </p:cNvCxnSpPr>
          <p:nvPr/>
        </p:nvCxnSpPr>
        <p:spPr>
          <a:xfrm>
            <a:off x="6762750" y="3181350"/>
            <a:ext cx="0" cy="466725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64" name="直接箭头连接符 63"/>
          <p:cNvCxnSpPr>
            <a:stCxn id="11" idx="2"/>
            <a:endCxn id="14" idx="0"/>
          </p:cNvCxnSpPr>
          <p:nvPr/>
        </p:nvCxnSpPr>
        <p:spPr>
          <a:xfrm>
            <a:off x="6762750" y="4686300"/>
            <a:ext cx="0" cy="466725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0" name="diagram-264"/>
          <p:cNvSpPr>
            <a:spLocks noGrp="1"/>
          </p:cNvSpPr>
          <p:nvPr/>
        </p:nvSpPr>
        <p:spPr>
          <a:xfrm>
            <a:off x="10382250" y="3238500"/>
            <a:ext cx="4095750" cy="165735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21" name="text-265"/>
          <p:cNvSpPr>
            <a:spLocks noGrp="1"/>
          </p:cNvSpPr>
          <p:nvPr/>
        </p:nvSpPr>
        <p:spPr>
          <a:xfrm>
            <a:off x="10553700" y="3409950"/>
            <a:ext cx="3752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执行与返回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266"/>
          <p:cNvSpPr>
            <a:spLocks noGrp="1"/>
          </p:cNvSpPr>
          <p:nvPr/>
        </p:nvSpPr>
        <p:spPr>
          <a:xfrm>
            <a:off x="10553700" y="3962400"/>
            <a:ext cx="37528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QPU / Simulator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完成、失败或让出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68" name="肘形连接符 67"/>
          <p:cNvCxnSpPr>
            <a:stCxn id="8" idx="3"/>
            <a:endCxn id="20" idx="1"/>
          </p:cNvCxnSpPr>
          <p:nvPr/>
        </p:nvCxnSpPr>
        <p:spPr>
          <a:xfrm>
            <a:off x="8620125" y="2662238"/>
            <a:ext cx="1762125" cy="1404938"/>
          </a:xfrm>
          <a:prstGeom prst="bentConnector3">
            <a:avLst>
              <a:gd name="adj1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69" name="肘形连接符 68"/>
          <p:cNvCxnSpPr>
            <a:stCxn id="11" idx="3"/>
            <a:endCxn id="20" idx="1"/>
          </p:cNvCxnSpPr>
          <p:nvPr/>
        </p:nvCxnSpPr>
        <p:spPr>
          <a:xfrm flipV="1">
            <a:off x="8620125" y="4067175"/>
            <a:ext cx="1762125" cy="100013"/>
          </a:xfrm>
          <a:prstGeom prst="bentConnector3">
            <a:avLst>
              <a:gd name="adj1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70" name="肘形连接符 69"/>
          <p:cNvCxnSpPr>
            <a:stCxn id="14" idx="3"/>
            <a:endCxn id="20" idx="1"/>
          </p:cNvCxnSpPr>
          <p:nvPr/>
        </p:nvCxnSpPr>
        <p:spPr>
          <a:xfrm flipV="1">
            <a:off x="8620125" y="4067175"/>
            <a:ext cx="1762125" cy="1604963"/>
          </a:xfrm>
          <a:prstGeom prst="bentConnector3">
            <a:avLst>
              <a:gd name="adj1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6" name="diagram-267"/>
          <p:cNvSpPr>
            <a:spLocks noGrp="1"/>
          </p:cNvSpPr>
          <p:nvPr/>
        </p:nvSpPr>
        <p:spPr>
          <a:xfrm>
            <a:off x="762000" y="4610100"/>
            <a:ext cx="3048000" cy="16573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7" name="text-268"/>
          <p:cNvSpPr>
            <a:spLocks noGrp="1"/>
          </p:cNvSpPr>
          <p:nvPr/>
        </p:nvSpPr>
        <p:spPr>
          <a:xfrm>
            <a:off x="933450" y="4781550"/>
            <a:ext cx="2705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等待经典计算 / I/O</a:t>
            </a:r>
            <a:endParaRPr sz="19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-269"/>
          <p:cNvSpPr>
            <a:spLocks noGrp="1"/>
          </p:cNvSpPr>
          <p:nvPr/>
        </p:nvSpPr>
        <p:spPr>
          <a:xfrm>
            <a:off x="933450" y="5353050"/>
            <a:ext cx="27051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优化器更新、资源释放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就绪后重新进入队列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74" name="直接箭头连接符 73"/>
          <p:cNvCxnSpPr>
            <a:stCxn id="26" idx="0"/>
            <a:endCxn id="5" idx="2"/>
          </p:cNvCxnSpPr>
          <p:nvPr/>
        </p:nvCxnSpPr>
        <p:spPr>
          <a:xfrm flipV="1">
            <a:off x="2286000" y="3086100"/>
            <a:ext cx="0" cy="1524000"/>
          </a:xfrm>
          <a:prstGeom prst="straightConnector1">
            <a:avLst/>
          </a:prstGeom>
          <a:ln w="22860">
            <a:solidFill>
              <a:srgbClr val="205FBC"/>
            </a:solidFill>
            <a:prstDash val="dash"/>
            <a:tailEnd type="triangle" w="sm" len="sm"/>
          </a:ln>
        </p:spPr>
      </p:cxnSp>
      <p:sp>
        <p:nvSpPr>
          <p:cNvPr id="30" name="diagram-270"/>
          <p:cNvSpPr>
            <a:spLocks noGrp="1"/>
          </p:cNvSpPr>
          <p:nvPr/>
        </p:nvSpPr>
        <p:spPr>
          <a:xfrm>
            <a:off x="762000" y="6858000"/>
            <a:ext cx="13716000" cy="6762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31" name="text-271"/>
          <p:cNvSpPr>
            <a:spLocks noGrp="1"/>
          </p:cNvSpPr>
          <p:nvPr/>
        </p:nvSpPr>
        <p:spPr>
          <a:xfrm>
            <a:off x="933450" y="6953250"/>
            <a:ext cx="13373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反馈策略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-272"/>
          <p:cNvSpPr>
            <a:spLocks noGrp="1"/>
          </p:cNvSpPr>
          <p:nvPr/>
        </p:nvSpPr>
        <p:spPr>
          <a:xfrm>
            <a:off x="933450" y="7239000"/>
            <a:ext cx="133731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预算耗尽降级、等待老化提升、就绪任务重新准入</a:t>
            </a:r>
            <a:endParaRPr sz="17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text-273"/>
          <p:cNvSpPr>
            <a:spLocks noGrp="1"/>
          </p:cNvSpPr>
          <p:nvPr/>
        </p:nvSpPr>
        <p:spPr>
          <a:xfrm>
            <a:off x="10363200" y="5238750"/>
            <a:ext cx="4048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完成后返回 Result</a:t>
            </a:r>
            <a:endParaRPr sz="1875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text-274"/>
          <p:cNvSpPr>
            <a:spLocks noGrp="1"/>
          </p:cNvSpPr>
          <p:nvPr/>
        </p:nvSpPr>
        <p:spPr>
          <a:xfrm>
            <a:off x="7077075" y="3286125"/>
            <a:ext cx="14573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预算耗尽</a:t>
            </a:r>
            <a:endParaRPr sz="1575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text-275"/>
          <p:cNvSpPr>
            <a:spLocks noGrp="1"/>
          </p:cNvSpPr>
          <p:nvPr/>
        </p:nvSpPr>
        <p:spPr>
          <a:xfrm>
            <a:off x="7077075" y="4791075"/>
            <a:ext cx="14573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预算耗尽</a:t>
            </a:r>
            <a:endParaRPr sz="1575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diagram-276"/>
          <p:cNvSpPr>
            <a:spLocks noGrp="1"/>
          </p:cNvSpPr>
          <p:nvPr/>
        </p:nvSpPr>
        <p:spPr>
          <a:xfrm>
            <a:off x="14478000" y="4067175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37" name="diagram-277"/>
          <p:cNvSpPr>
            <a:spLocks noGrp="1"/>
          </p:cNvSpPr>
          <p:nvPr/>
        </p:nvSpPr>
        <p:spPr>
          <a:xfrm>
            <a:off x="14716125" y="4067175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38" name="diagram-278"/>
          <p:cNvSpPr>
            <a:spLocks noGrp="1"/>
          </p:cNvSpPr>
          <p:nvPr/>
        </p:nvSpPr>
        <p:spPr>
          <a:xfrm>
            <a:off x="14716125" y="6543675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39" name="diagram-279"/>
          <p:cNvSpPr>
            <a:spLocks noGrp="1"/>
          </p:cNvSpPr>
          <p:nvPr/>
        </p:nvSpPr>
        <p:spPr>
          <a:xfrm>
            <a:off x="2286000" y="6543675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40" name="diagram-280"/>
          <p:cNvSpPr>
            <a:spLocks noGrp="1"/>
          </p:cNvSpPr>
          <p:nvPr/>
        </p:nvSpPr>
        <p:spPr>
          <a:xfrm>
            <a:off x="2286000" y="6267450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86" name="直接箭头连接符 85"/>
          <p:cNvCxnSpPr>
            <a:stCxn id="36" idx="2"/>
            <a:endCxn id="37" idx="0"/>
          </p:cNvCxnSpPr>
          <p:nvPr/>
        </p:nvCxnSpPr>
        <p:spPr>
          <a:xfrm flipV="1">
            <a:off x="14478477" y="4067175"/>
            <a:ext cx="238125" cy="953"/>
          </a:xfrm>
          <a:prstGeom prst="straightConnector1">
            <a:avLst/>
          </a:prstGeom>
          <a:ln w="19050">
            <a:solidFill>
              <a:srgbClr val="205FBC"/>
            </a:solidFill>
            <a:prstDash val="dash"/>
          </a:ln>
        </p:spPr>
      </p:cxnSp>
      <p:cxnSp>
        <p:nvCxnSpPr>
          <p:cNvPr id="87" name="直接箭头连接符 86"/>
          <p:cNvCxnSpPr>
            <a:stCxn id="37" idx="2"/>
            <a:endCxn id="38" idx="0"/>
          </p:cNvCxnSpPr>
          <p:nvPr/>
        </p:nvCxnSpPr>
        <p:spPr>
          <a:xfrm>
            <a:off x="14716602" y="4068128"/>
            <a:ext cx="0" cy="2475547"/>
          </a:xfrm>
          <a:prstGeom prst="straightConnector1">
            <a:avLst/>
          </a:prstGeom>
          <a:ln w="19050">
            <a:solidFill>
              <a:srgbClr val="205FBC"/>
            </a:solidFill>
            <a:prstDash val="dash"/>
          </a:ln>
        </p:spPr>
      </p:cxnSp>
      <p:cxnSp>
        <p:nvCxnSpPr>
          <p:cNvPr id="88" name="直接箭头连接符 87"/>
          <p:cNvCxnSpPr>
            <a:stCxn id="38" idx="2"/>
            <a:endCxn id="39" idx="0"/>
          </p:cNvCxnSpPr>
          <p:nvPr/>
        </p:nvCxnSpPr>
        <p:spPr>
          <a:xfrm flipH="1" flipV="1">
            <a:off x="2286477" y="6543675"/>
            <a:ext cx="12430125" cy="953"/>
          </a:xfrm>
          <a:prstGeom prst="straightConnector1">
            <a:avLst/>
          </a:prstGeom>
          <a:ln w="19050">
            <a:solidFill>
              <a:srgbClr val="205FBC"/>
            </a:solidFill>
            <a:prstDash val="dash"/>
          </a:ln>
        </p:spPr>
      </p:cxnSp>
      <p:cxnSp>
        <p:nvCxnSpPr>
          <p:cNvPr id="89" name="直接箭头连接符 88"/>
          <p:cNvCxnSpPr>
            <a:stCxn id="39" idx="0"/>
            <a:endCxn id="40" idx="2"/>
          </p:cNvCxnSpPr>
          <p:nvPr/>
        </p:nvCxnSpPr>
        <p:spPr>
          <a:xfrm flipV="1">
            <a:off x="2286477" y="6268403"/>
            <a:ext cx="0" cy="275272"/>
          </a:xfrm>
          <a:prstGeom prst="straightConnector1">
            <a:avLst/>
          </a:prstGeom>
          <a:ln w="22860">
            <a:solidFill>
              <a:srgbClr val="205FBC"/>
            </a:solidFill>
            <a:prstDash val="dash"/>
            <a:tailEnd type="triangle" w="sm" len="sm"/>
          </a:ln>
        </p:spPr>
      </p:cxnSp>
      <p:sp>
        <p:nvSpPr>
          <p:cNvPr id="45" name="text-281"/>
          <p:cNvSpPr>
            <a:spLocks noGrp="1"/>
          </p:cNvSpPr>
          <p:nvPr/>
        </p:nvSpPr>
        <p:spPr>
          <a:xfrm>
            <a:off x="9563100" y="6153150"/>
            <a:ext cx="45529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205FB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205FB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安全边界让出 / 经典计算等待</a:t>
            </a:r>
            <a:endParaRPr sz="1650" b="0">
              <a:solidFill>
                <a:srgbClr val="205FB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3" name="text-282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QOS-DP：从程序提交到设备反馈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283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参考 QuantumOS 驱动执行时序图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284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QEC 作为 Core 协议与 QOS / HAL 实时扩展，须按控制器能力单独验证时延。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285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286"/>
          <p:cNvSpPr>
            <a:spLocks noGrp="1"/>
          </p:cNvSpPr>
          <p:nvPr/>
        </p:nvSpPr>
        <p:spPr>
          <a:xfrm>
            <a:off x="762000" y="2133600"/>
            <a:ext cx="2095500" cy="8763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287"/>
          <p:cNvSpPr>
            <a:spLocks noGrp="1"/>
          </p:cNvSpPr>
          <p:nvPr/>
        </p:nvSpPr>
        <p:spPr>
          <a:xfrm>
            <a:off x="933450" y="2228850"/>
            <a:ext cx="1752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QB SDK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288"/>
          <p:cNvSpPr>
            <a:spLocks noGrp="1"/>
          </p:cNvSpPr>
          <p:nvPr/>
        </p:nvSpPr>
        <p:spPr>
          <a:xfrm>
            <a:off x="933450" y="2628900"/>
            <a:ext cx="1752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源程序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289"/>
          <p:cNvSpPr>
            <a:spLocks noGrp="1"/>
          </p:cNvSpPr>
          <p:nvPr/>
        </p:nvSpPr>
        <p:spPr>
          <a:xfrm>
            <a:off x="1809750" y="3124200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9" name="diagram-290"/>
          <p:cNvSpPr>
            <a:spLocks noGrp="1"/>
          </p:cNvSpPr>
          <p:nvPr/>
        </p:nvSpPr>
        <p:spPr>
          <a:xfrm>
            <a:off x="1809750" y="7400925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82" name="直接箭头连接符 81"/>
          <p:cNvCxnSpPr>
            <a:stCxn id="8" idx="2"/>
            <a:endCxn id="9" idx="0"/>
          </p:cNvCxnSpPr>
          <p:nvPr/>
        </p:nvCxnSpPr>
        <p:spPr>
          <a:xfrm>
            <a:off x="1810227" y="3125153"/>
            <a:ext cx="0" cy="4275772"/>
          </a:xfrm>
          <a:prstGeom prst="straightConnector1">
            <a:avLst/>
          </a:prstGeom>
          <a:ln w="12383">
            <a:solidFill>
              <a:srgbClr val="BDCFDA"/>
            </a:solidFill>
            <a:prstDash val="dash"/>
          </a:ln>
        </p:spPr>
      </p:cxnSp>
      <p:sp>
        <p:nvSpPr>
          <p:cNvPr id="11" name="diagram-291"/>
          <p:cNvSpPr>
            <a:spLocks noGrp="1"/>
          </p:cNvSpPr>
          <p:nvPr/>
        </p:nvSpPr>
        <p:spPr>
          <a:xfrm>
            <a:off x="3086100" y="2133600"/>
            <a:ext cx="2095500" cy="8763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292"/>
          <p:cNvSpPr>
            <a:spLocks noGrp="1"/>
          </p:cNvSpPr>
          <p:nvPr/>
        </p:nvSpPr>
        <p:spPr>
          <a:xfrm>
            <a:off x="3257550" y="2228850"/>
            <a:ext cx="1752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Compiler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293"/>
          <p:cNvSpPr>
            <a:spLocks noGrp="1"/>
          </p:cNvSpPr>
          <p:nvPr/>
        </p:nvSpPr>
        <p:spPr>
          <a:xfrm>
            <a:off x="3257550" y="2628900"/>
            <a:ext cx="1752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前端 / 目标编译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294"/>
          <p:cNvSpPr>
            <a:spLocks noGrp="1"/>
          </p:cNvSpPr>
          <p:nvPr/>
        </p:nvSpPr>
        <p:spPr>
          <a:xfrm>
            <a:off x="4133850" y="3124200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15" name="diagram-295"/>
          <p:cNvSpPr>
            <a:spLocks noGrp="1"/>
          </p:cNvSpPr>
          <p:nvPr/>
        </p:nvSpPr>
        <p:spPr>
          <a:xfrm>
            <a:off x="4133850" y="7400925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88" name="直接箭头连接符 87"/>
          <p:cNvCxnSpPr>
            <a:stCxn id="14" idx="2"/>
            <a:endCxn id="15" idx="0"/>
          </p:cNvCxnSpPr>
          <p:nvPr/>
        </p:nvCxnSpPr>
        <p:spPr>
          <a:xfrm>
            <a:off x="4134327" y="3125153"/>
            <a:ext cx="0" cy="4275772"/>
          </a:xfrm>
          <a:prstGeom prst="straightConnector1">
            <a:avLst/>
          </a:prstGeom>
          <a:ln w="12383">
            <a:solidFill>
              <a:srgbClr val="BDCFDA"/>
            </a:solidFill>
            <a:prstDash val="dash"/>
          </a:ln>
        </p:spPr>
      </p:cxnSp>
      <p:sp>
        <p:nvSpPr>
          <p:cNvPr id="17" name="diagram-296"/>
          <p:cNvSpPr>
            <a:spLocks noGrp="1"/>
          </p:cNvSpPr>
          <p:nvPr/>
        </p:nvSpPr>
        <p:spPr>
          <a:xfrm>
            <a:off x="5410200" y="2133600"/>
            <a:ext cx="2095500" cy="8763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8" name="text-297"/>
          <p:cNvSpPr>
            <a:spLocks noGrp="1"/>
          </p:cNvSpPr>
          <p:nvPr/>
        </p:nvSpPr>
        <p:spPr>
          <a:xfrm>
            <a:off x="5581650" y="2228850"/>
            <a:ext cx="1752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 Kernel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298"/>
          <p:cNvSpPr>
            <a:spLocks noGrp="1"/>
          </p:cNvSpPr>
          <p:nvPr/>
        </p:nvSpPr>
        <p:spPr>
          <a:xfrm>
            <a:off x="5581650" y="2628900"/>
            <a:ext cx="1752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调度 / 资源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diagram-299"/>
          <p:cNvSpPr>
            <a:spLocks noGrp="1"/>
          </p:cNvSpPr>
          <p:nvPr/>
        </p:nvSpPr>
        <p:spPr>
          <a:xfrm>
            <a:off x="6457950" y="3124200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21" name="diagram-300"/>
          <p:cNvSpPr>
            <a:spLocks noGrp="1"/>
          </p:cNvSpPr>
          <p:nvPr/>
        </p:nvSpPr>
        <p:spPr>
          <a:xfrm>
            <a:off x="6457950" y="7400925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94" name="直接箭头连接符 93"/>
          <p:cNvCxnSpPr>
            <a:stCxn id="20" idx="2"/>
            <a:endCxn id="21" idx="0"/>
          </p:cNvCxnSpPr>
          <p:nvPr/>
        </p:nvCxnSpPr>
        <p:spPr>
          <a:xfrm>
            <a:off x="6458427" y="3125153"/>
            <a:ext cx="0" cy="4275772"/>
          </a:xfrm>
          <a:prstGeom prst="straightConnector1">
            <a:avLst/>
          </a:prstGeom>
          <a:ln w="12383">
            <a:solidFill>
              <a:srgbClr val="BDCFDA"/>
            </a:solidFill>
            <a:prstDash val="dash"/>
          </a:ln>
        </p:spPr>
      </p:cxnSp>
      <p:sp>
        <p:nvSpPr>
          <p:cNvPr id="23" name="diagram-301"/>
          <p:cNvSpPr>
            <a:spLocks noGrp="1"/>
          </p:cNvSpPr>
          <p:nvPr/>
        </p:nvSpPr>
        <p:spPr>
          <a:xfrm>
            <a:off x="7734300" y="2133600"/>
            <a:ext cx="2095500" cy="87630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24" name="text-302"/>
          <p:cNvSpPr>
            <a:spLocks noGrp="1"/>
          </p:cNvSpPr>
          <p:nvPr/>
        </p:nvSpPr>
        <p:spPr>
          <a:xfrm>
            <a:off x="7905750" y="2228850"/>
            <a:ext cx="1752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QEC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-303"/>
          <p:cNvSpPr>
            <a:spLocks noGrp="1"/>
          </p:cNvSpPr>
          <p:nvPr/>
        </p:nvSpPr>
        <p:spPr>
          <a:xfrm>
            <a:off x="7905750" y="2628900"/>
            <a:ext cx="1752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解码 / 反馈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diagram-304"/>
          <p:cNvSpPr>
            <a:spLocks noGrp="1"/>
          </p:cNvSpPr>
          <p:nvPr/>
        </p:nvSpPr>
        <p:spPr>
          <a:xfrm>
            <a:off x="8782050" y="3124200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27" name="diagram-305"/>
          <p:cNvSpPr>
            <a:spLocks noGrp="1"/>
          </p:cNvSpPr>
          <p:nvPr/>
        </p:nvSpPr>
        <p:spPr>
          <a:xfrm>
            <a:off x="8782050" y="7400925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100" name="直接箭头连接符 99"/>
          <p:cNvCxnSpPr>
            <a:stCxn id="26" idx="2"/>
            <a:endCxn id="27" idx="0"/>
          </p:cNvCxnSpPr>
          <p:nvPr/>
        </p:nvCxnSpPr>
        <p:spPr>
          <a:xfrm>
            <a:off x="8782527" y="3125153"/>
            <a:ext cx="0" cy="4275772"/>
          </a:xfrm>
          <a:prstGeom prst="straightConnector1">
            <a:avLst/>
          </a:prstGeom>
          <a:ln w="12383">
            <a:solidFill>
              <a:srgbClr val="BDCFDA"/>
            </a:solidFill>
            <a:prstDash val="dash"/>
          </a:ln>
        </p:spPr>
      </p:cxnSp>
      <p:sp>
        <p:nvSpPr>
          <p:cNvPr id="29" name="diagram-306"/>
          <p:cNvSpPr>
            <a:spLocks noGrp="1"/>
          </p:cNvSpPr>
          <p:nvPr/>
        </p:nvSpPr>
        <p:spPr>
          <a:xfrm>
            <a:off x="10058400" y="2133600"/>
            <a:ext cx="2095500" cy="8763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30" name="text-307"/>
          <p:cNvSpPr>
            <a:spLocks noGrp="1"/>
          </p:cNvSpPr>
          <p:nvPr/>
        </p:nvSpPr>
        <p:spPr>
          <a:xfrm>
            <a:off x="10229850" y="2228850"/>
            <a:ext cx="1752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Q-HAL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text-308"/>
          <p:cNvSpPr>
            <a:spLocks noGrp="1"/>
          </p:cNvSpPr>
          <p:nvPr/>
        </p:nvSpPr>
        <p:spPr>
          <a:xfrm>
            <a:off x="10229850" y="2628900"/>
            <a:ext cx="1752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驱动 / 控制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diagram-309"/>
          <p:cNvSpPr>
            <a:spLocks noGrp="1"/>
          </p:cNvSpPr>
          <p:nvPr/>
        </p:nvSpPr>
        <p:spPr>
          <a:xfrm>
            <a:off x="11106150" y="3124200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33" name="diagram-310"/>
          <p:cNvSpPr>
            <a:spLocks noGrp="1"/>
          </p:cNvSpPr>
          <p:nvPr/>
        </p:nvSpPr>
        <p:spPr>
          <a:xfrm>
            <a:off x="11106150" y="7400925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106" name="直接箭头连接符 105"/>
          <p:cNvCxnSpPr>
            <a:stCxn id="32" idx="2"/>
            <a:endCxn id="33" idx="0"/>
          </p:cNvCxnSpPr>
          <p:nvPr/>
        </p:nvCxnSpPr>
        <p:spPr>
          <a:xfrm>
            <a:off x="11106627" y="3125153"/>
            <a:ext cx="0" cy="4275772"/>
          </a:xfrm>
          <a:prstGeom prst="straightConnector1">
            <a:avLst/>
          </a:prstGeom>
          <a:ln w="12383">
            <a:solidFill>
              <a:srgbClr val="BDCFDA"/>
            </a:solidFill>
            <a:prstDash val="dash"/>
          </a:ln>
        </p:spPr>
      </p:cxnSp>
      <p:sp>
        <p:nvSpPr>
          <p:cNvPr id="35" name="diagram-311"/>
          <p:cNvSpPr>
            <a:spLocks noGrp="1"/>
          </p:cNvSpPr>
          <p:nvPr/>
        </p:nvSpPr>
        <p:spPr>
          <a:xfrm>
            <a:off x="12382500" y="2133600"/>
            <a:ext cx="2095500" cy="8763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36" name="text-312"/>
          <p:cNvSpPr>
            <a:spLocks noGrp="1"/>
          </p:cNvSpPr>
          <p:nvPr/>
        </p:nvSpPr>
        <p:spPr>
          <a:xfrm>
            <a:off x="12553950" y="2228850"/>
            <a:ext cx="1752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QPU</a:t>
            </a:r>
            <a:endParaRPr sz="18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text-313"/>
          <p:cNvSpPr>
            <a:spLocks noGrp="1"/>
          </p:cNvSpPr>
          <p:nvPr/>
        </p:nvSpPr>
        <p:spPr>
          <a:xfrm>
            <a:off x="12553950" y="2628900"/>
            <a:ext cx="1752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量子硬件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diagram-314"/>
          <p:cNvSpPr>
            <a:spLocks noGrp="1"/>
          </p:cNvSpPr>
          <p:nvPr/>
        </p:nvSpPr>
        <p:spPr>
          <a:xfrm>
            <a:off x="13430250" y="3124200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39" name="diagram-315"/>
          <p:cNvSpPr>
            <a:spLocks noGrp="1"/>
          </p:cNvSpPr>
          <p:nvPr/>
        </p:nvSpPr>
        <p:spPr>
          <a:xfrm>
            <a:off x="13430250" y="7400925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112" name="直接箭头连接符 111"/>
          <p:cNvCxnSpPr>
            <a:stCxn id="38" idx="2"/>
            <a:endCxn id="39" idx="0"/>
          </p:cNvCxnSpPr>
          <p:nvPr/>
        </p:nvCxnSpPr>
        <p:spPr>
          <a:xfrm>
            <a:off x="13430727" y="3125153"/>
            <a:ext cx="0" cy="4275772"/>
          </a:xfrm>
          <a:prstGeom prst="straightConnector1">
            <a:avLst/>
          </a:prstGeom>
          <a:ln w="12383">
            <a:solidFill>
              <a:srgbClr val="BDCFDA"/>
            </a:solidFill>
            <a:prstDash val="dash"/>
          </a:ln>
        </p:spPr>
      </p:cxnSp>
      <p:sp>
        <p:nvSpPr>
          <p:cNvPr id="41" name="diagram-316"/>
          <p:cNvSpPr>
            <a:spLocks noGrp="1"/>
          </p:cNvSpPr>
          <p:nvPr/>
        </p:nvSpPr>
        <p:spPr>
          <a:xfrm>
            <a:off x="1809750" y="3514725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42" name="diagram-317"/>
          <p:cNvSpPr>
            <a:spLocks noGrp="1"/>
          </p:cNvSpPr>
          <p:nvPr/>
        </p:nvSpPr>
        <p:spPr>
          <a:xfrm>
            <a:off x="4133850" y="3514725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115" name="直接箭头连接符 114"/>
          <p:cNvCxnSpPr>
            <a:stCxn id="41" idx="3"/>
            <a:endCxn id="42" idx="1"/>
          </p:cNvCxnSpPr>
          <p:nvPr/>
        </p:nvCxnSpPr>
        <p:spPr>
          <a:xfrm>
            <a:off x="1810703" y="3515202"/>
            <a:ext cx="2323147" cy="0"/>
          </a:xfrm>
          <a:prstGeom prst="straightConnector1">
            <a:avLst/>
          </a:prstGeom>
          <a:ln w="20955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44" name="text-318"/>
          <p:cNvSpPr>
            <a:spLocks noGrp="1"/>
          </p:cNvSpPr>
          <p:nvPr/>
        </p:nvSpPr>
        <p:spPr>
          <a:xfrm>
            <a:off x="1876425" y="3219450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线路 / QASM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diagram-319"/>
          <p:cNvSpPr>
            <a:spLocks noGrp="1"/>
          </p:cNvSpPr>
          <p:nvPr/>
        </p:nvSpPr>
        <p:spPr>
          <a:xfrm>
            <a:off x="4133850" y="4029075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46" name="diagram-320"/>
          <p:cNvSpPr>
            <a:spLocks noGrp="1"/>
          </p:cNvSpPr>
          <p:nvPr/>
        </p:nvSpPr>
        <p:spPr>
          <a:xfrm>
            <a:off x="6457950" y="4029075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119" name="直接箭头连接符 118"/>
          <p:cNvCxnSpPr>
            <a:stCxn id="45" idx="3"/>
            <a:endCxn id="46" idx="1"/>
          </p:cNvCxnSpPr>
          <p:nvPr/>
        </p:nvCxnSpPr>
        <p:spPr>
          <a:xfrm>
            <a:off x="4134803" y="4029552"/>
            <a:ext cx="2323147" cy="0"/>
          </a:xfrm>
          <a:prstGeom prst="straightConnector1">
            <a:avLst/>
          </a:prstGeom>
          <a:ln w="20955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48" name="text-321"/>
          <p:cNvSpPr>
            <a:spLocks noGrp="1"/>
          </p:cNvSpPr>
          <p:nvPr/>
        </p:nvSpPr>
        <p:spPr>
          <a:xfrm>
            <a:off x="4200525" y="3733800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QIR / JobSpec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diagram-322"/>
          <p:cNvSpPr>
            <a:spLocks noGrp="1"/>
          </p:cNvSpPr>
          <p:nvPr/>
        </p:nvSpPr>
        <p:spPr>
          <a:xfrm>
            <a:off x="6457950" y="4543425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50" name="diagram-323"/>
          <p:cNvSpPr>
            <a:spLocks noGrp="1"/>
          </p:cNvSpPr>
          <p:nvPr/>
        </p:nvSpPr>
        <p:spPr>
          <a:xfrm>
            <a:off x="11106150" y="4543425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123" name="直接箭头连接符 122"/>
          <p:cNvCxnSpPr>
            <a:stCxn id="49" idx="3"/>
            <a:endCxn id="50" idx="1"/>
          </p:cNvCxnSpPr>
          <p:nvPr/>
        </p:nvCxnSpPr>
        <p:spPr>
          <a:xfrm>
            <a:off x="6458903" y="4543902"/>
            <a:ext cx="4647247" cy="0"/>
          </a:xfrm>
          <a:prstGeom prst="straightConnector1">
            <a:avLst/>
          </a:prstGeom>
          <a:ln w="20955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52" name="text-324"/>
          <p:cNvSpPr>
            <a:spLocks noGrp="1"/>
          </p:cNvSpPr>
          <p:nvPr/>
        </p:nvSpPr>
        <p:spPr>
          <a:xfrm>
            <a:off x="6524625" y="4248150"/>
            <a:ext cx="4514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驱动加载、资源预约与 QOS-DP 指令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diagram-325"/>
          <p:cNvSpPr>
            <a:spLocks noGrp="1"/>
          </p:cNvSpPr>
          <p:nvPr/>
        </p:nvSpPr>
        <p:spPr>
          <a:xfrm>
            <a:off x="11106150" y="5057775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54" name="diagram-326"/>
          <p:cNvSpPr>
            <a:spLocks noGrp="1"/>
          </p:cNvSpPr>
          <p:nvPr/>
        </p:nvSpPr>
        <p:spPr>
          <a:xfrm>
            <a:off x="13430250" y="5057775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127" name="直接箭头连接符 126"/>
          <p:cNvCxnSpPr>
            <a:stCxn id="53" idx="3"/>
            <a:endCxn id="54" idx="1"/>
          </p:cNvCxnSpPr>
          <p:nvPr/>
        </p:nvCxnSpPr>
        <p:spPr>
          <a:xfrm>
            <a:off x="11107103" y="5058252"/>
            <a:ext cx="2323147" cy="0"/>
          </a:xfrm>
          <a:prstGeom prst="straightConnector1">
            <a:avLst/>
          </a:prstGeom>
          <a:ln w="20955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56" name="text-327"/>
          <p:cNvSpPr>
            <a:spLocks noGrp="1"/>
          </p:cNvSpPr>
          <p:nvPr/>
        </p:nvSpPr>
        <p:spPr>
          <a:xfrm>
            <a:off x="11172825" y="4762500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脉冲 / 控制命令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7" name="diagram-328"/>
          <p:cNvSpPr>
            <a:spLocks noGrp="1"/>
          </p:cNvSpPr>
          <p:nvPr/>
        </p:nvSpPr>
        <p:spPr>
          <a:xfrm>
            <a:off x="13430250" y="5572125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58" name="diagram-329"/>
          <p:cNvSpPr>
            <a:spLocks noGrp="1"/>
          </p:cNvSpPr>
          <p:nvPr/>
        </p:nvSpPr>
        <p:spPr>
          <a:xfrm>
            <a:off x="8782050" y="5572125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131" name="直接箭头连接符 130"/>
          <p:cNvCxnSpPr>
            <a:stCxn id="57" idx="3"/>
            <a:endCxn id="58" idx="1"/>
          </p:cNvCxnSpPr>
          <p:nvPr/>
        </p:nvCxnSpPr>
        <p:spPr>
          <a:xfrm flipH="1">
            <a:off x="8782050" y="5572602"/>
            <a:ext cx="4649153" cy="0"/>
          </a:xfrm>
          <a:prstGeom prst="straightConnector1">
            <a:avLst/>
          </a:prstGeom>
          <a:ln w="20955">
            <a:solidFill>
              <a:srgbClr val="205FBC"/>
            </a:solidFill>
            <a:prstDash val="dash"/>
            <a:tailEnd type="triangle" w="sm" len="sm"/>
          </a:ln>
        </p:spPr>
      </p:cxnSp>
      <p:sp>
        <p:nvSpPr>
          <p:cNvPr id="60" name="text-330"/>
          <p:cNvSpPr>
            <a:spLocks noGrp="1"/>
          </p:cNvSpPr>
          <p:nvPr/>
        </p:nvSpPr>
        <p:spPr>
          <a:xfrm>
            <a:off x="8848725" y="5276850"/>
            <a:ext cx="4514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205FB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205FB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综合征测量</a:t>
            </a:r>
            <a:endParaRPr sz="1575" b="0">
              <a:solidFill>
                <a:srgbClr val="205FB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diagram-331"/>
          <p:cNvSpPr>
            <a:spLocks noGrp="1"/>
          </p:cNvSpPr>
          <p:nvPr/>
        </p:nvSpPr>
        <p:spPr>
          <a:xfrm>
            <a:off x="8782050" y="6086475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62" name="diagram-332"/>
          <p:cNvSpPr>
            <a:spLocks noGrp="1"/>
          </p:cNvSpPr>
          <p:nvPr/>
        </p:nvSpPr>
        <p:spPr>
          <a:xfrm>
            <a:off x="13430250" y="6086475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135" name="直接箭头连接符 134"/>
          <p:cNvCxnSpPr>
            <a:stCxn id="61" idx="3"/>
            <a:endCxn id="62" idx="1"/>
          </p:cNvCxnSpPr>
          <p:nvPr/>
        </p:nvCxnSpPr>
        <p:spPr>
          <a:xfrm>
            <a:off x="8783003" y="6086952"/>
            <a:ext cx="4647247" cy="0"/>
          </a:xfrm>
          <a:prstGeom prst="straightConnector1">
            <a:avLst/>
          </a:prstGeom>
          <a:ln w="20955">
            <a:solidFill>
              <a:srgbClr val="205FBC"/>
            </a:solidFill>
            <a:prstDash val="solid"/>
            <a:tailEnd type="triangle" w="sm" len="sm"/>
          </a:ln>
        </p:spPr>
      </p:cxnSp>
      <p:sp>
        <p:nvSpPr>
          <p:cNvPr id="64" name="text-333"/>
          <p:cNvSpPr>
            <a:spLocks noGrp="1"/>
          </p:cNvSpPr>
          <p:nvPr/>
        </p:nvSpPr>
        <p:spPr>
          <a:xfrm>
            <a:off x="8848725" y="5791200"/>
            <a:ext cx="4514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205FB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205FB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解码与纠错反馈</a:t>
            </a:r>
            <a:endParaRPr sz="1575" b="0">
              <a:solidFill>
                <a:srgbClr val="205FB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" name="diagram-334"/>
          <p:cNvSpPr>
            <a:spLocks noGrp="1"/>
          </p:cNvSpPr>
          <p:nvPr/>
        </p:nvSpPr>
        <p:spPr>
          <a:xfrm>
            <a:off x="13430250" y="6600825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66" name="diagram-335"/>
          <p:cNvSpPr>
            <a:spLocks noGrp="1"/>
          </p:cNvSpPr>
          <p:nvPr/>
        </p:nvSpPr>
        <p:spPr>
          <a:xfrm>
            <a:off x="11106150" y="6600825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139" name="直接箭头连接符 138"/>
          <p:cNvCxnSpPr>
            <a:stCxn id="65" idx="3"/>
            <a:endCxn id="66" idx="1"/>
          </p:cNvCxnSpPr>
          <p:nvPr/>
        </p:nvCxnSpPr>
        <p:spPr>
          <a:xfrm flipH="1">
            <a:off x="11106150" y="6601302"/>
            <a:ext cx="2325053" cy="0"/>
          </a:xfrm>
          <a:prstGeom prst="straightConnector1">
            <a:avLst/>
          </a:prstGeom>
          <a:ln w="20955">
            <a:solidFill>
              <a:srgbClr val="057F86"/>
            </a:solidFill>
            <a:prstDash val="dash"/>
            <a:tailEnd type="triangle" w="sm" len="sm"/>
          </a:ln>
        </p:spPr>
      </p:cxnSp>
      <p:sp>
        <p:nvSpPr>
          <p:cNvPr id="68" name="text-336"/>
          <p:cNvSpPr>
            <a:spLocks noGrp="1"/>
          </p:cNvSpPr>
          <p:nvPr/>
        </p:nvSpPr>
        <p:spPr>
          <a:xfrm>
            <a:off x="11172825" y="6305550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最终读出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9" name="diagram-337"/>
          <p:cNvSpPr>
            <a:spLocks noGrp="1"/>
          </p:cNvSpPr>
          <p:nvPr/>
        </p:nvSpPr>
        <p:spPr>
          <a:xfrm>
            <a:off x="11106150" y="7200900"/>
            <a:ext cx="953" cy="953"/>
          </a:xfrm>
          <a:prstGeom prst="rect">
            <a:avLst/>
          </a:prstGeom>
          <a:noFill/>
          <a:ln w="13335">
            <a:noFill/>
          </a:ln>
        </p:spPr>
      </p:sp>
      <p:sp>
        <p:nvSpPr>
          <p:cNvPr id="70" name="diagram-338"/>
          <p:cNvSpPr>
            <a:spLocks noGrp="1"/>
          </p:cNvSpPr>
          <p:nvPr/>
        </p:nvSpPr>
        <p:spPr>
          <a:xfrm>
            <a:off x="1809750" y="7200900"/>
            <a:ext cx="953" cy="953"/>
          </a:xfrm>
          <a:prstGeom prst="rect">
            <a:avLst/>
          </a:prstGeom>
          <a:noFill/>
          <a:ln w="13335">
            <a:noFill/>
          </a:ln>
        </p:spPr>
      </p:sp>
      <p:cxnSp>
        <p:nvCxnSpPr>
          <p:cNvPr id="143" name="直接箭头连接符 142"/>
          <p:cNvCxnSpPr>
            <a:stCxn id="69" idx="3"/>
            <a:endCxn id="70" idx="1"/>
          </p:cNvCxnSpPr>
          <p:nvPr/>
        </p:nvCxnSpPr>
        <p:spPr>
          <a:xfrm flipH="1">
            <a:off x="1809750" y="7201377"/>
            <a:ext cx="9297353" cy="0"/>
          </a:xfrm>
          <a:prstGeom prst="straightConnector1">
            <a:avLst/>
          </a:prstGeom>
          <a:ln w="20955">
            <a:solidFill>
              <a:srgbClr val="057F86"/>
            </a:solidFill>
            <a:prstDash val="dash"/>
            <a:tailEnd type="triangle" w="sm" len="sm"/>
          </a:ln>
        </p:spPr>
      </p:cxnSp>
      <p:sp>
        <p:nvSpPr>
          <p:cNvPr id="72" name="text-339"/>
          <p:cNvSpPr>
            <a:spLocks noGrp="1"/>
          </p:cNvSpPr>
          <p:nvPr/>
        </p:nvSpPr>
        <p:spPr>
          <a:xfrm>
            <a:off x="1876425" y="6905625"/>
            <a:ext cx="9163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驱动与内核归一化结果，回传 QB Result 与 Manifest</a:t>
            </a:r>
            <a:endParaRPr sz="15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text-340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补充能力：智能 Router 与调度决策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341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归入 quantum_bridge_os.router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342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复用既有 SLA、BackendState、Pareto 与 decision_trace，接入 QOS 的调度准入。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343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344"/>
          <p:cNvSpPr>
            <a:spLocks noGrp="1"/>
          </p:cNvSpPr>
          <p:nvPr/>
        </p:nvSpPr>
        <p:spPr>
          <a:xfrm>
            <a:off x="762000" y="2333625"/>
            <a:ext cx="3476625" cy="16573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345"/>
          <p:cNvSpPr>
            <a:spLocks noGrp="1"/>
          </p:cNvSpPr>
          <p:nvPr/>
        </p:nvSpPr>
        <p:spPr>
          <a:xfrm>
            <a:off x="933450" y="2505075"/>
            <a:ext cx="3133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任务画像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346"/>
          <p:cNvSpPr>
            <a:spLocks noGrp="1"/>
          </p:cNvSpPr>
          <p:nvPr/>
        </p:nvSpPr>
        <p:spPr>
          <a:xfrm>
            <a:off x="933450" y="3076575"/>
            <a:ext cx="31337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线路规模 / shots / 优先级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最低保真 / 最大等待 / 预算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347"/>
          <p:cNvSpPr>
            <a:spLocks noGrp="1"/>
          </p:cNvSpPr>
          <p:nvPr/>
        </p:nvSpPr>
        <p:spPr>
          <a:xfrm>
            <a:off x="762000" y="4943475"/>
            <a:ext cx="3476625" cy="16573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348"/>
          <p:cNvSpPr>
            <a:spLocks noGrp="1"/>
          </p:cNvSpPr>
          <p:nvPr/>
        </p:nvSpPr>
        <p:spPr>
          <a:xfrm>
            <a:off x="933450" y="5114925"/>
            <a:ext cx="3133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后端状态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349"/>
          <p:cNvSpPr>
            <a:spLocks noGrp="1"/>
          </p:cNvSpPr>
          <p:nvPr/>
        </p:nvSpPr>
        <p:spPr>
          <a:xfrm>
            <a:off x="933450" y="5686425"/>
            <a:ext cx="31337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队列 / 门集 / 拓扑 / 费用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校准时间与噪声快照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350"/>
          <p:cNvSpPr>
            <a:spLocks noGrp="1"/>
          </p:cNvSpPr>
          <p:nvPr/>
        </p:nvSpPr>
        <p:spPr>
          <a:xfrm>
            <a:off x="5457825" y="3381375"/>
            <a:ext cx="4305300" cy="1971675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12" name="text-351"/>
          <p:cNvSpPr>
            <a:spLocks noGrp="1"/>
          </p:cNvSpPr>
          <p:nvPr/>
        </p:nvSpPr>
        <p:spPr>
          <a:xfrm>
            <a:off x="5629275" y="3552825"/>
            <a:ext cx="3962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估计与候选筛选</a:t>
            </a:r>
            <a:endParaRPr sz="23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352"/>
          <p:cNvSpPr>
            <a:spLocks noGrp="1"/>
          </p:cNvSpPr>
          <p:nvPr/>
        </p:nvSpPr>
        <p:spPr>
          <a:xfrm>
            <a:off x="5629275" y="4124325"/>
            <a:ext cx="396240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成本 / 等待 / 成功率模型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约束校验与 Pareto 选择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4" name="肘形连接符 33"/>
          <p:cNvCxnSpPr>
            <a:stCxn id="5" idx="3"/>
            <a:endCxn id="11" idx="1"/>
          </p:cNvCxnSpPr>
          <p:nvPr/>
        </p:nvCxnSpPr>
        <p:spPr>
          <a:xfrm>
            <a:off x="4238625" y="3162300"/>
            <a:ext cx="1219200" cy="1204913"/>
          </a:xfrm>
          <a:prstGeom prst="bentConnector3">
            <a:avLst>
              <a:gd name="adj1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35" name="肘形连接符 34"/>
          <p:cNvCxnSpPr>
            <a:stCxn id="8" idx="3"/>
            <a:endCxn id="11" idx="1"/>
          </p:cNvCxnSpPr>
          <p:nvPr/>
        </p:nvCxnSpPr>
        <p:spPr>
          <a:xfrm flipV="1">
            <a:off x="4238625" y="4367213"/>
            <a:ext cx="1219200" cy="1404938"/>
          </a:xfrm>
          <a:prstGeom prst="bentConnector3">
            <a:avLst>
              <a:gd name="adj1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6" name="diagram-353"/>
          <p:cNvSpPr>
            <a:spLocks noGrp="1"/>
          </p:cNvSpPr>
          <p:nvPr/>
        </p:nvSpPr>
        <p:spPr>
          <a:xfrm>
            <a:off x="10858500" y="3276600"/>
            <a:ext cx="3619500" cy="2247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7" name="text-354"/>
          <p:cNvSpPr>
            <a:spLocks noGrp="1"/>
          </p:cNvSpPr>
          <p:nvPr/>
        </p:nvSpPr>
        <p:spPr>
          <a:xfrm>
            <a:off x="11029950" y="3448050"/>
            <a:ext cx="3276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路由决策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355"/>
          <p:cNvSpPr>
            <a:spLocks noGrp="1"/>
          </p:cNvSpPr>
          <p:nvPr/>
        </p:nvSpPr>
        <p:spPr>
          <a:xfrm>
            <a:off x="11029950" y="4019550"/>
            <a:ext cx="32766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主选与备用后端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decision_trace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预测、约束与拒绝原因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9" name="直接箭头连接符 38"/>
          <p:cNvCxnSpPr>
            <a:stCxn id="11" idx="3"/>
            <a:endCxn id="16" idx="1"/>
          </p:cNvCxnSpPr>
          <p:nvPr/>
        </p:nvCxnSpPr>
        <p:spPr>
          <a:xfrm>
            <a:off x="9763125" y="4367213"/>
            <a:ext cx="1095375" cy="33338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0" name="text-356"/>
          <p:cNvSpPr>
            <a:spLocks noGrp="1"/>
          </p:cNvSpPr>
          <p:nvPr/>
        </p:nvSpPr>
        <p:spPr>
          <a:xfrm>
            <a:off x="3000375" y="6981825"/>
            <a:ext cx="1152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任务快照、实测结果与校准更新回流，用于改进估计和资源策略</a:t>
            </a:r>
            <a:endParaRPr sz="2025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text-357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Core：QB 的统一建模与计算语言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358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quantum_bridge_core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359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QNode / Tape 和梯度语义归 Core，ML 在其上构建模型与训练。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360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361"/>
          <p:cNvSpPr>
            <a:spLocks noGrp="1"/>
          </p:cNvSpPr>
          <p:nvPr/>
        </p:nvSpPr>
        <p:spPr>
          <a:xfrm>
            <a:off x="4762500" y="2076450"/>
            <a:ext cx="5715000" cy="99060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6" name="text-362"/>
          <p:cNvSpPr>
            <a:spLocks noGrp="1"/>
          </p:cNvSpPr>
          <p:nvPr/>
        </p:nvSpPr>
        <p:spPr>
          <a:xfrm>
            <a:off x="4933950" y="2171700"/>
            <a:ext cx="5372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Core 公共计算协议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363"/>
          <p:cNvSpPr>
            <a:spLocks noGrp="1"/>
          </p:cNvSpPr>
          <p:nvPr/>
        </p:nvSpPr>
        <p:spPr>
          <a:xfrm>
            <a:off x="4933950" y="2657475"/>
            <a:ext cx="53721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Circuit IR / Operator / Primitive / Gradient / Result</a:t>
            </a:r>
            <a:endParaRPr sz="17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364"/>
          <p:cNvSpPr>
            <a:spLocks noGrp="1"/>
          </p:cNvSpPr>
          <p:nvPr/>
        </p:nvSpPr>
        <p:spPr>
          <a:xfrm>
            <a:off x="762000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365"/>
          <p:cNvSpPr>
            <a:spLocks noGrp="1"/>
          </p:cNvSpPr>
          <p:nvPr/>
        </p:nvSpPr>
        <p:spPr>
          <a:xfrm>
            <a:off x="933450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电路与程序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366"/>
          <p:cNvSpPr>
            <a:spLocks noGrp="1"/>
          </p:cNvSpPr>
          <p:nvPr/>
        </p:nvSpPr>
        <p:spPr>
          <a:xfrm>
            <a:off x="933450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量子门与寄存器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参数、测量与控制流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OpenQASM 导入导出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编译和执行入口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4" name="肘形连接符 33"/>
          <p:cNvCxnSpPr>
            <a:stCxn id="5" idx="2"/>
            <a:endCxn id="8" idx="0"/>
          </p:cNvCxnSpPr>
          <p:nvPr/>
        </p:nvCxnSpPr>
        <p:spPr>
          <a:xfrm flipH="1">
            <a:off x="2369344" y="3067050"/>
            <a:ext cx="5250656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2" name="diagram-367"/>
          <p:cNvSpPr>
            <a:spLocks noGrp="1"/>
          </p:cNvSpPr>
          <p:nvPr/>
        </p:nvSpPr>
        <p:spPr>
          <a:xfrm>
            <a:off x="4262438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3" name="text-368"/>
          <p:cNvSpPr>
            <a:spLocks noGrp="1"/>
          </p:cNvSpPr>
          <p:nvPr/>
        </p:nvSpPr>
        <p:spPr>
          <a:xfrm>
            <a:off x="4433888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算子与信息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369"/>
          <p:cNvSpPr>
            <a:spLocks noGrp="1"/>
          </p:cNvSpPr>
          <p:nvPr/>
        </p:nvSpPr>
        <p:spPr>
          <a:xfrm>
            <a:off x="4433888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Pauli / Hamiltonian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费米子 / 玻色子 / 稀疏算子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映射、对称性与截断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态与量子信息工具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8" name="肘形连接符 37"/>
          <p:cNvCxnSpPr>
            <a:stCxn id="5" idx="2"/>
            <a:endCxn id="12" idx="0"/>
          </p:cNvCxnSpPr>
          <p:nvPr/>
        </p:nvCxnSpPr>
        <p:spPr>
          <a:xfrm flipH="1">
            <a:off x="5869782" y="3067050"/>
            <a:ext cx="1750218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6" name="diagram-370"/>
          <p:cNvSpPr>
            <a:spLocks noGrp="1"/>
          </p:cNvSpPr>
          <p:nvPr/>
        </p:nvSpPr>
        <p:spPr>
          <a:xfrm>
            <a:off x="7762875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7" name="text-371"/>
          <p:cNvSpPr>
            <a:spLocks noGrp="1"/>
          </p:cNvSpPr>
          <p:nvPr/>
        </p:nvSpPr>
        <p:spPr>
          <a:xfrm>
            <a:off x="7934325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原语与可微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372"/>
          <p:cNvSpPr>
            <a:spLocks noGrp="1"/>
          </p:cNvSpPr>
          <p:nvPr/>
        </p:nvSpPr>
        <p:spPr>
          <a:xfrm>
            <a:off x="7934325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Sampler / Estimator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QNode / Tape / Transform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参数偏移与设备梯度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批量与多输出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2" name="肘形连接符 41"/>
          <p:cNvCxnSpPr>
            <a:stCxn id="5" idx="2"/>
            <a:endCxn id="16" idx="0"/>
          </p:cNvCxnSpPr>
          <p:nvPr/>
        </p:nvCxnSpPr>
        <p:spPr>
          <a:xfrm>
            <a:off x="7620000" y="3067050"/>
            <a:ext cx="1750219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0" name="diagram-373"/>
          <p:cNvSpPr>
            <a:spLocks noGrp="1"/>
          </p:cNvSpPr>
          <p:nvPr/>
        </p:nvSpPr>
        <p:spPr>
          <a:xfrm>
            <a:off x="11263313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1" name="text-374"/>
          <p:cNvSpPr>
            <a:spLocks noGrp="1"/>
          </p:cNvSpPr>
          <p:nvPr/>
        </p:nvSpPr>
        <p:spPr>
          <a:xfrm>
            <a:off x="11434763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通用算法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375"/>
          <p:cNvSpPr>
            <a:spLocks noGrp="1"/>
          </p:cNvSpPr>
          <p:nvPr/>
        </p:nvSpPr>
        <p:spPr>
          <a:xfrm>
            <a:off x="11434763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VQE / QAOA / Grover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振幅估计 / 动力学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经典优化器协议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资源估计与统一结果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6" name="肘形连接符 45"/>
          <p:cNvCxnSpPr>
            <a:stCxn id="5" idx="2"/>
            <a:endCxn id="20" idx="0"/>
          </p:cNvCxnSpPr>
          <p:nvPr/>
        </p:nvCxnSpPr>
        <p:spPr>
          <a:xfrm>
            <a:off x="7620000" y="3067050"/>
            <a:ext cx="5250657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text-376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Simulator：统一仿真接口与多类内核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377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quantum_bridge_simulator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378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精度、seed、shots、内存与并行资源统一配置，按算法和硬件声明规模。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379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380"/>
          <p:cNvSpPr>
            <a:spLocks noGrp="1"/>
          </p:cNvSpPr>
          <p:nvPr/>
        </p:nvSpPr>
        <p:spPr>
          <a:xfrm>
            <a:off x="3048000" y="2076450"/>
            <a:ext cx="9144000" cy="99060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6" name="text-381"/>
          <p:cNvSpPr>
            <a:spLocks noGrp="1"/>
          </p:cNvSpPr>
          <p:nvPr/>
        </p:nvSpPr>
        <p:spPr>
          <a:xfrm>
            <a:off x="3219450" y="2171700"/>
            <a:ext cx="8801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Simulator 执行接口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382"/>
          <p:cNvSpPr>
            <a:spLocks noGrp="1"/>
          </p:cNvSpPr>
          <p:nvPr/>
        </p:nvSpPr>
        <p:spPr>
          <a:xfrm>
            <a:off x="3219450" y="2657475"/>
            <a:ext cx="88011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统一输入 IR 与 Result，供 Core、ML 和行业工作流调用</a:t>
            </a:r>
            <a:endParaRPr sz="17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383"/>
          <p:cNvSpPr>
            <a:spLocks noGrp="1"/>
          </p:cNvSpPr>
          <p:nvPr/>
        </p:nvSpPr>
        <p:spPr>
          <a:xfrm>
            <a:off x="762000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384"/>
          <p:cNvSpPr>
            <a:spLocks noGrp="1"/>
          </p:cNvSpPr>
          <p:nvPr/>
        </p:nvSpPr>
        <p:spPr>
          <a:xfrm>
            <a:off x="933450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精确与采样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385"/>
          <p:cNvSpPr>
            <a:spLocks noGrp="1"/>
          </p:cNvSpPr>
          <p:nvPr/>
        </p:nvSpPr>
        <p:spPr>
          <a:xfrm>
            <a:off x="933450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CPU 状态向量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概率 / counts / 期望值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参数批次与并行线路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小系统正确性参考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4" name="肘形连接符 33"/>
          <p:cNvCxnSpPr>
            <a:stCxn id="5" idx="2"/>
            <a:endCxn id="8" idx="0"/>
          </p:cNvCxnSpPr>
          <p:nvPr/>
        </p:nvCxnSpPr>
        <p:spPr>
          <a:xfrm flipH="1">
            <a:off x="2369344" y="3067050"/>
            <a:ext cx="5250656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2" name="diagram-386"/>
          <p:cNvSpPr>
            <a:spLocks noGrp="1"/>
          </p:cNvSpPr>
          <p:nvPr/>
        </p:nvSpPr>
        <p:spPr>
          <a:xfrm>
            <a:off x="4262438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3" name="text-387"/>
          <p:cNvSpPr>
            <a:spLocks noGrp="1"/>
          </p:cNvSpPr>
          <p:nvPr/>
        </p:nvSpPr>
        <p:spPr>
          <a:xfrm>
            <a:off x="4433888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带噪与动力学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388"/>
          <p:cNvSpPr>
            <a:spLocks noGrp="1"/>
          </p:cNvSpPr>
          <p:nvPr/>
        </p:nvSpPr>
        <p:spPr>
          <a:xfrm>
            <a:off x="4433888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密度矩阵 / Kraus 通道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门噪声与读出噪声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T1 / T2 与时间演化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校准生成噪声模型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8" name="肘形连接符 37"/>
          <p:cNvCxnSpPr>
            <a:stCxn id="5" idx="2"/>
            <a:endCxn id="12" idx="0"/>
          </p:cNvCxnSpPr>
          <p:nvPr/>
        </p:nvCxnSpPr>
        <p:spPr>
          <a:xfrm flipH="1">
            <a:off x="5869782" y="3067050"/>
            <a:ext cx="1750218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6" name="diagram-389"/>
          <p:cNvSpPr>
            <a:spLocks noGrp="1"/>
          </p:cNvSpPr>
          <p:nvPr/>
        </p:nvSpPr>
        <p:spPr>
          <a:xfrm>
            <a:off x="7762875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7" name="text-390"/>
          <p:cNvSpPr>
            <a:spLocks noGrp="1"/>
          </p:cNvSpPr>
          <p:nvPr/>
        </p:nvSpPr>
        <p:spPr>
          <a:xfrm>
            <a:off x="7934325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高性能计算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391"/>
          <p:cNvSpPr>
            <a:spLocks noGrp="1"/>
          </p:cNvSpPr>
          <p:nvPr/>
        </p:nvSpPr>
        <p:spPr>
          <a:xfrm>
            <a:off x="7934325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GPU / 多线程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张量网络与结构化表示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分布式与内存预算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多体与截断误差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2" name="肘形连接符 41"/>
          <p:cNvCxnSpPr>
            <a:stCxn id="5" idx="2"/>
            <a:endCxn id="16" idx="0"/>
          </p:cNvCxnSpPr>
          <p:nvPr/>
        </p:nvCxnSpPr>
        <p:spPr>
          <a:xfrm>
            <a:off x="7620000" y="3067050"/>
            <a:ext cx="1750219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0" name="diagram-392"/>
          <p:cNvSpPr>
            <a:spLocks noGrp="1"/>
          </p:cNvSpPr>
          <p:nvPr/>
        </p:nvSpPr>
        <p:spPr>
          <a:xfrm>
            <a:off x="11263313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1" name="text-393"/>
          <p:cNvSpPr>
            <a:spLocks noGrp="1"/>
          </p:cNvSpPr>
          <p:nvPr/>
        </p:nvSpPr>
        <p:spPr>
          <a:xfrm>
            <a:off x="11434763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外部引擎插件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394"/>
          <p:cNvSpPr>
            <a:spLocks noGrp="1"/>
          </p:cNvSpPr>
          <p:nvPr/>
        </p:nvSpPr>
        <p:spPr>
          <a:xfrm>
            <a:off x="11434763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Aer / Lightning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MQT DDSIM 兼容入口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统一配置与结果转换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能力矩阵与基准对照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6" name="肘形连接符 45"/>
          <p:cNvCxnSpPr>
            <a:stCxn id="5" idx="2"/>
            <a:endCxn id="20" idx="0"/>
          </p:cNvCxnSpPr>
          <p:nvPr/>
        </p:nvCxnSpPr>
        <p:spPr>
          <a:xfrm>
            <a:off x="7620000" y="3067050"/>
            <a:ext cx="5250657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text-395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ML：量子经典混合训练闭环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396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quantum_bridge_ml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397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高层模型与训练接口归 ML，Core 提供 QNode、梯度策略与编译执行。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398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399"/>
          <p:cNvSpPr>
            <a:spLocks noGrp="1"/>
          </p:cNvSpPr>
          <p:nvPr/>
        </p:nvSpPr>
        <p:spPr>
          <a:xfrm>
            <a:off x="762000" y="2352675"/>
            <a:ext cx="3157538" cy="187642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400"/>
          <p:cNvSpPr>
            <a:spLocks noGrp="1"/>
          </p:cNvSpPr>
          <p:nvPr/>
        </p:nvSpPr>
        <p:spPr>
          <a:xfrm>
            <a:off x="933450" y="2524125"/>
            <a:ext cx="281463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经典模型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401"/>
          <p:cNvSpPr>
            <a:spLocks noGrp="1"/>
          </p:cNvSpPr>
          <p:nvPr/>
        </p:nvSpPr>
        <p:spPr>
          <a:xfrm>
            <a:off x="933450" y="3095625"/>
            <a:ext cx="2814638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特征 / 数据编码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PyTorch / JAX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402"/>
          <p:cNvSpPr>
            <a:spLocks noGrp="1"/>
          </p:cNvSpPr>
          <p:nvPr/>
        </p:nvSpPr>
        <p:spPr>
          <a:xfrm>
            <a:off x="4281488" y="2352675"/>
            <a:ext cx="3157538" cy="187642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403"/>
          <p:cNvSpPr>
            <a:spLocks noGrp="1"/>
          </p:cNvSpPr>
          <p:nvPr/>
        </p:nvSpPr>
        <p:spPr>
          <a:xfrm>
            <a:off x="4452938" y="2524125"/>
            <a:ext cx="281463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量子模型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404"/>
          <p:cNvSpPr>
            <a:spLocks noGrp="1"/>
          </p:cNvSpPr>
          <p:nvPr/>
        </p:nvSpPr>
        <p:spPr>
          <a:xfrm>
            <a:off x="4452938" y="3095625"/>
            <a:ext cx="2814638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QNN / QCNN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QNode 与参数线路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405"/>
          <p:cNvSpPr>
            <a:spLocks noGrp="1"/>
          </p:cNvSpPr>
          <p:nvPr/>
        </p:nvSpPr>
        <p:spPr>
          <a:xfrm>
            <a:off x="7800975" y="2352675"/>
            <a:ext cx="3157538" cy="187642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406"/>
          <p:cNvSpPr>
            <a:spLocks noGrp="1"/>
          </p:cNvSpPr>
          <p:nvPr/>
        </p:nvSpPr>
        <p:spPr>
          <a:xfrm>
            <a:off x="7972425" y="2524125"/>
            <a:ext cx="281463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测量与损失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407"/>
          <p:cNvSpPr>
            <a:spLocks noGrp="1"/>
          </p:cNvSpPr>
          <p:nvPr/>
        </p:nvSpPr>
        <p:spPr>
          <a:xfrm>
            <a:off x="7972425" y="3095625"/>
            <a:ext cx="2814638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期望值 / 概率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端到端 loss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408"/>
          <p:cNvSpPr>
            <a:spLocks noGrp="1"/>
          </p:cNvSpPr>
          <p:nvPr/>
        </p:nvSpPr>
        <p:spPr>
          <a:xfrm>
            <a:off x="11320463" y="2352675"/>
            <a:ext cx="3157538" cy="187642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5" name="text-409"/>
          <p:cNvSpPr>
            <a:spLocks noGrp="1"/>
          </p:cNvSpPr>
          <p:nvPr/>
        </p:nvSpPr>
        <p:spPr>
          <a:xfrm>
            <a:off x="11491913" y="2524125"/>
            <a:ext cx="281463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梯度与更新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410"/>
          <p:cNvSpPr>
            <a:spLocks noGrp="1"/>
          </p:cNvSpPr>
          <p:nvPr/>
        </p:nvSpPr>
        <p:spPr>
          <a:xfrm>
            <a:off x="11491913" y="3095625"/>
            <a:ext cx="2814638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参数偏移 / adjoint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优化器与检查点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4" name="直接箭头连接符 43"/>
          <p:cNvCxnSpPr>
            <a:stCxn id="5" idx="3"/>
            <a:endCxn id="8" idx="1"/>
          </p:cNvCxnSpPr>
          <p:nvPr/>
        </p:nvCxnSpPr>
        <p:spPr>
          <a:xfrm>
            <a:off x="3919538" y="3290888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45" name="直接箭头连接符 44"/>
          <p:cNvCxnSpPr>
            <a:stCxn id="8" idx="3"/>
            <a:endCxn id="11" idx="1"/>
          </p:cNvCxnSpPr>
          <p:nvPr/>
        </p:nvCxnSpPr>
        <p:spPr>
          <a:xfrm>
            <a:off x="7439026" y="3290888"/>
            <a:ext cx="361949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46" name="直接箭头连接符 45"/>
          <p:cNvCxnSpPr>
            <a:stCxn id="11" idx="3"/>
            <a:endCxn id="14" idx="1"/>
          </p:cNvCxnSpPr>
          <p:nvPr/>
        </p:nvCxnSpPr>
        <p:spPr>
          <a:xfrm>
            <a:off x="10958513" y="3290888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47" name="肘形连接符 46"/>
          <p:cNvCxnSpPr>
            <a:stCxn id="14" idx="2"/>
            <a:endCxn id="5" idx="2"/>
          </p:cNvCxnSpPr>
          <p:nvPr/>
        </p:nvCxnSpPr>
        <p:spPr>
          <a:xfrm flipH="1">
            <a:off x="2340769" y="4229100"/>
            <a:ext cx="10558463" cy="228600"/>
          </a:xfrm>
          <a:prstGeom prst="bentConnector4">
            <a:avLst/>
          </a:prstGeom>
          <a:ln w="22860">
            <a:solidFill>
              <a:srgbClr val="205FBC"/>
            </a:solidFill>
            <a:prstDash val="dash"/>
            <a:tailEnd type="triangle" w="sm" len="sm"/>
          </a:ln>
        </p:spPr>
      </p:cxnSp>
      <p:sp>
        <p:nvSpPr>
          <p:cNvPr id="21" name="text-411"/>
          <p:cNvSpPr>
            <a:spLocks noGrp="1"/>
          </p:cNvSpPr>
          <p:nvPr/>
        </p:nvSpPr>
        <p:spPr>
          <a:xfrm>
            <a:off x="5124450" y="4457700"/>
            <a:ext cx="50006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205FB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205FB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更新经典与量子参数</a:t>
            </a:r>
            <a:endParaRPr sz="1800" b="0">
              <a:solidFill>
                <a:srgbClr val="205FB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412"/>
          <p:cNvSpPr>
            <a:spLocks noGrp="1"/>
          </p:cNvSpPr>
          <p:nvPr/>
        </p:nvSpPr>
        <p:spPr>
          <a:xfrm>
            <a:off x="762000" y="538162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模型族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-413"/>
          <p:cNvSpPr>
            <a:spLocks noGrp="1"/>
          </p:cNvSpPr>
          <p:nvPr/>
        </p:nvSpPr>
        <p:spPr>
          <a:xfrm>
            <a:off x="762000" y="599122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量子核 / QSVM / 聚类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qGAN / qPCA / 降维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-414"/>
          <p:cNvSpPr>
            <a:spLocks noGrp="1"/>
          </p:cNvSpPr>
          <p:nvPr/>
        </p:nvSpPr>
        <p:spPr>
          <a:xfrm>
            <a:off x="5499100" y="538162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框架连接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-415"/>
          <p:cNvSpPr>
            <a:spLocks noGrp="1"/>
          </p:cNvSpPr>
          <p:nvPr/>
        </p:nvSpPr>
        <p:spPr>
          <a:xfrm>
            <a:off x="5499100" y="599122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Torch / JAX connector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TensorFlow 存量版本策略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416"/>
          <p:cNvSpPr>
            <a:spLocks noGrp="1"/>
          </p:cNvSpPr>
          <p:nvPr/>
        </p:nvSpPr>
        <p:spPr>
          <a:xfrm>
            <a:off x="10236200" y="538162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已有补充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-417"/>
          <p:cNvSpPr>
            <a:spLocks noGrp="1"/>
          </p:cNvSpPr>
          <p:nvPr/>
        </p:nvSpPr>
        <p:spPr>
          <a:xfrm>
            <a:off x="10236200" y="599122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TorchQuantum 风格量子层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batch forward 与训练示例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text-418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补充能力：跨框架与可选插件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419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plugins/ 与主包的兼容子模块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420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统一桥接线路、算子、梯度和结果，第三方依赖按需安装。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421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422"/>
          <p:cNvSpPr>
            <a:spLocks noGrp="1"/>
          </p:cNvSpPr>
          <p:nvPr/>
        </p:nvSpPr>
        <p:spPr>
          <a:xfrm>
            <a:off x="762000" y="2238375"/>
            <a:ext cx="4191000" cy="14382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423"/>
          <p:cNvSpPr>
            <a:spLocks noGrp="1"/>
          </p:cNvSpPr>
          <p:nvPr/>
        </p:nvSpPr>
        <p:spPr>
          <a:xfrm>
            <a:off x="933450" y="2409825"/>
            <a:ext cx="3848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Qiskit 生态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424"/>
          <p:cNvSpPr>
            <a:spLocks noGrp="1"/>
          </p:cNvSpPr>
          <p:nvPr/>
        </p:nvSpPr>
        <p:spPr>
          <a:xfrm>
            <a:off x="933450" y="2981325"/>
            <a:ext cx="38481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线路 / 原语 / 行业库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425"/>
          <p:cNvSpPr>
            <a:spLocks noGrp="1"/>
          </p:cNvSpPr>
          <p:nvPr/>
        </p:nvSpPr>
        <p:spPr>
          <a:xfrm>
            <a:off x="5524500" y="2238375"/>
            <a:ext cx="4191000" cy="14382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426"/>
          <p:cNvSpPr>
            <a:spLocks noGrp="1"/>
          </p:cNvSpPr>
          <p:nvPr/>
        </p:nvSpPr>
        <p:spPr>
          <a:xfrm>
            <a:off x="5695950" y="2409825"/>
            <a:ext cx="3848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PennyLane 生态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427"/>
          <p:cNvSpPr>
            <a:spLocks noGrp="1"/>
          </p:cNvSpPr>
          <p:nvPr/>
        </p:nvSpPr>
        <p:spPr>
          <a:xfrm>
            <a:off x="5695950" y="2981325"/>
            <a:ext cx="38481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Tape / QNode / Device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428"/>
          <p:cNvSpPr>
            <a:spLocks noGrp="1"/>
          </p:cNvSpPr>
          <p:nvPr/>
        </p:nvSpPr>
        <p:spPr>
          <a:xfrm>
            <a:off x="10287000" y="2238375"/>
            <a:ext cx="4191000" cy="14382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429"/>
          <p:cNvSpPr>
            <a:spLocks noGrp="1"/>
          </p:cNvSpPr>
          <p:nvPr/>
        </p:nvSpPr>
        <p:spPr>
          <a:xfrm>
            <a:off x="10458450" y="2409825"/>
            <a:ext cx="3848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与仿真扩展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430"/>
          <p:cNvSpPr>
            <a:spLocks noGrp="1"/>
          </p:cNvSpPr>
          <p:nvPr/>
        </p:nvSpPr>
        <p:spPr>
          <a:xfrm>
            <a:off x="10458450" y="2981325"/>
            <a:ext cx="38481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TorchQuantum / MQT 等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431"/>
          <p:cNvSpPr>
            <a:spLocks noGrp="1"/>
          </p:cNvSpPr>
          <p:nvPr/>
        </p:nvSpPr>
        <p:spPr>
          <a:xfrm>
            <a:off x="2857500" y="4438650"/>
            <a:ext cx="9525000" cy="1133475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15" name="text-432"/>
          <p:cNvSpPr>
            <a:spLocks noGrp="1"/>
          </p:cNvSpPr>
          <p:nvPr/>
        </p:nvSpPr>
        <p:spPr>
          <a:xfrm>
            <a:off x="3028950" y="4610100"/>
            <a:ext cx="91821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Adapter / Bridge / Capability Registry</a:t>
            </a:r>
            <a:endParaRPr sz="23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433"/>
          <p:cNvSpPr>
            <a:spLocks noGrp="1"/>
          </p:cNvSpPr>
          <p:nvPr/>
        </p:nvSpPr>
        <p:spPr>
          <a:xfrm>
            <a:off x="3028950" y="5076825"/>
            <a:ext cx="9182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输入输出转换、版本检查、支持范围、可选依赖和差异报告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0" name="肘形连接符 39"/>
          <p:cNvCxnSpPr>
            <a:stCxn id="5" idx="2"/>
            <a:endCxn id="14" idx="0"/>
          </p:cNvCxnSpPr>
          <p:nvPr/>
        </p:nvCxnSpPr>
        <p:spPr>
          <a:xfrm>
            <a:off x="2857500" y="3676650"/>
            <a:ext cx="4762500" cy="7620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41" name="直接箭头连接符 40"/>
          <p:cNvCxnSpPr>
            <a:stCxn id="8" idx="2"/>
            <a:endCxn id="14" idx="0"/>
          </p:cNvCxnSpPr>
          <p:nvPr/>
        </p:nvCxnSpPr>
        <p:spPr>
          <a:xfrm>
            <a:off x="7620000" y="3676650"/>
            <a:ext cx="0" cy="76200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42" name="肘形连接符 41"/>
          <p:cNvCxnSpPr>
            <a:stCxn id="11" idx="2"/>
            <a:endCxn id="14" idx="0"/>
          </p:cNvCxnSpPr>
          <p:nvPr/>
        </p:nvCxnSpPr>
        <p:spPr>
          <a:xfrm flipH="1">
            <a:off x="7620000" y="3676650"/>
            <a:ext cx="4762500" cy="7620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0" name="diagram-434"/>
          <p:cNvSpPr>
            <a:spLocks noGrp="1"/>
          </p:cNvSpPr>
          <p:nvPr/>
        </p:nvSpPr>
        <p:spPr>
          <a:xfrm>
            <a:off x="2857500" y="6496050"/>
            <a:ext cx="9525000" cy="9525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1" name="text-435"/>
          <p:cNvSpPr>
            <a:spLocks noGrp="1"/>
          </p:cNvSpPr>
          <p:nvPr/>
        </p:nvSpPr>
        <p:spPr>
          <a:xfrm>
            <a:off x="3028950" y="6591300"/>
            <a:ext cx="91821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 Bridge 公共契约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436"/>
          <p:cNvSpPr>
            <a:spLocks noGrp="1"/>
          </p:cNvSpPr>
          <p:nvPr/>
        </p:nvSpPr>
        <p:spPr>
          <a:xfrm>
            <a:off x="3028950" y="7058025"/>
            <a:ext cx="91821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Circuit / Operator / GradientPlan / DeviceSpec / Result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6" name="直接箭头连接符 45"/>
          <p:cNvCxnSpPr>
            <a:stCxn id="14" idx="2"/>
            <a:endCxn id="20" idx="0"/>
          </p:cNvCxnSpPr>
          <p:nvPr/>
        </p:nvCxnSpPr>
        <p:spPr>
          <a:xfrm>
            <a:off x="7620000" y="5572125"/>
            <a:ext cx="0" cy="923925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text-437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应用层：四大行业共用一个计算生态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438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Science / Finance / Industry / Crypto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439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行业包拥有业务语义，公共算子、算法、设备和运行服务由下层复用。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440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441"/>
          <p:cNvSpPr>
            <a:spLocks noGrp="1"/>
          </p:cNvSpPr>
          <p:nvPr/>
        </p:nvSpPr>
        <p:spPr>
          <a:xfrm>
            <a:off x="762000" y="2343150"/>
            <a:ext cx="3143250" cy="16192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442"/>
          <p:cNvSpPr>
            <a:spLocks noGrp="1"/>
          </p:cNvSpPr>
          <p:nvPr/>
        </p:nvSpPr>
        <p:spPr>
          <a:xfrm>
            <a:off x="933450" y="2514600"/>
            <a:ext cx="28003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Science</a:t>
            </a:r>
            <a:endParaRPr sz="23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443"/>
          <p:cNvSpPr>
            <a:spLocks noGrp="1"/>
          </p:cNvSpPr>
          <p:nvPr/>
        </p:nvSpPr>
        <p:spPr>
          <a:xfrm>
            <a:off x="933450" y="3086100"/>
            <a:ext cx="28003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分子 / 材料 / 生物 / 物理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444"/>
          <p:cNvSpPr>
            <a:spLocks noGrp="1"/>
          </p:cNvSpPr>
          <p:nvPr/>
        </p:nvSpPr>
        <p:spPr>
          <a:xfrm>
            <a:off x="4286250" y="2343150"/>
            <a:ext cx="3143250" cy="16192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445"/>
          <p:cNvSpPr>
            <a:spLocks noGrp="1"/>
          </p:cNvSpPr>
          <p:nvPr/>
        </p:nvSpPr>
        <p:spPr>
          <a:xfrm>
            <a:off x="4457700" y="2514600"/>
            <a:ext cx="28003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Finance</a:t>
            </a:r>
            <a:endParaRPr sz="23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446"/>
          <p:cNvSpPr>
            <a:spLocks noGrp="1"/>
          </p:cNvSpPr>
          <p:nvPr/>
        </p:nvSpPr>
        <p:spPr>
          <a:xfrm>
            <a:off x="4457700" y="3086100"/>
            <a:ext cx="28003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组合 / 风险 / 定价 / 波动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447"/>
          <p:cNvSpPr>
            <a:spLocks noGrp="1"/>
          </p:cNvSpPr>
          <p:nvPr/>
        </p:nvSpPr>
        <p:spPr>
          <a:xfrm>
            <a:off x="7810500" y="2343150"/>
            <a:ext cx="3143250" cy="16192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448"/>
          <p:cNvSpPr>
            <a:spLocks noGrp="1"/>
          </p:cNvSpPr>
          <p:nvPr/>
        </p:nvSpPr>
        <p:spPr>
          <a:xfrm>
            <a:off x="7981950" y="2514600"/>
            <a:ext cx="28003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Industry</a:t>
            </a:r>
            <a:endParaRPr sz="23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449"/>
          <p:cNvSpPr>
            <a:spLocks noGrp="1"/>
          </p:cNvSpPr>
          <p:nvPr/>
        </p:nvSpPr>
        <p:spPr>
          <a:xfrm>
            <a:off x="7981950" y="3086100"/>
            <a:ext cx="28003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路径 / 资源 / 能源 / 排程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450"/>
          <p:cNvSpPr>
            <a:spLocks noGrp="1"/>
          </p:cNvSpPr>
          <p:nvPr/>
        </p:nvSpPr>
        <p:spPr>
          <a:xfrm>
            <a:off x="11334750" y="2343150"/>
            <a:ext cx="3143250" cy="16192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5" name="text-451"/>
          <p:cNvSpPr>
            <a:spLocks noGrp="1"/>
          </p:cNvSpPr>
          <p:nvPr/>
        </p:nvSpPr>
        <p:spPr>
          <a:xfrm>
            <a:off x="11506200" y="2514600"/>
            <a:ext cx="28003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Crypto</a:t>
            </a:r>
            <a:endParaRPr sz="23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452"/>
          <p:cNvSpPr>
            <a:spLocks noGrp="1"/>
          </p:cNvSpPr>
          <p:nvPr/>
        </p:nvSpPr>
        <p:spPr>
          <a:xfrm>
            <a:off x="11506200" y="3086100"/>
            <a:ext cx="28003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PQC / QKD / QRNG / 安全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diagram-453"/>
          <p:cNvSpPr>
            <a:spLocks noGrp="1"/>
          </p:cNvSpPr>
          <p:nvPr/>
        </p:nvSpPr>
        <p:spPr>
          <a:xfrm>
            <a:off x="2857500" y="4667250"/>
            <a:ext cx="9525000" cy="1019175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18" name="text-454"/>
          <p:cNvSpPr>
            <a:spLocks noGrp="1"/>
          </p:cNvSpPr>
          <p:nvPr/>
        </p:nvSpPr>
        <p:spPr>
          <a:xfrm>
            <a:off x="3028950" y="4762500"/>
            <a:ext cx="9182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行业问题与结果合同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455"/>
          <p:cNvSpPr>
            <a:spLocks noGrp="1"/>
          </p:cNvSpPr>
          <p:nvPr/>
        </p:nvSpPr>
        <p:spPr>
          <a:xfrm>
            <a:off x="3028950" y="5286375"/>
            <a:ext cx="9182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Problem / Model / Constraints / Domain Result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7" name="肘形连接符 46"/>
          <p:cNvCxnSpPr>
            <a:stCxn id="17" idx="0"/>
            <a:endCxn id="5" idx="2"/>
          </p:cNvCxnSpPr>
          <p:nvPr/>
        </p:nvCxnSpPr>
        <p:spPr>
          <a:xfrm flipH="1" flipV="1">
            <a:off x="2333625" y="3962400"/>
            <a:ext cx="5286375" cy="70485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48" name="肘形连接符 47"/>
          <p:cNvCxnSpPr>
            <a:stCxn id="17" idx="0"/>
            <a:endCxn id="8" idx="2"/>
          </p:cNvCxnSpPr>
          <p:nvPr/>
        </p:nvCxnSpPr>
        <p:spPr>
          <a:xfrm flipH="1" flipV="1">
            <a:off x="5857875" y="3962400"/>
            <a:ext cx="1762125" cy="70485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49" name="肘形连接符 48"/>
          <p:cNvCxnSpPr>
            <a:stCxn id="17" idx="0"/>
            <a:endCxn id="11" idx="2"/>
          </p:cNvCxnSpPr>
          <p:nvPr/>
        </p:nvCxnSpPr>
        <p:spPr>
          <a:xfrm flipV="1">
            <a:off x="7620000" y="3962400"/>
            <a:ext cx="1762125" cy="70485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0" name="肘形连接符 49"/>
          <p:cNvCxnSpPr>
            <a:stCxn id="17" idx="0"/>
            <a:endCxn id="14" idx="2"/>
          </p:cNvCxnSpPr>
          <p:nvPr/>
        </p:nvCxnSpPr>
        <p:spPr>
          <a:xfrm flipV="1">
            <a:off x="7620000" y="3962400"/>
            <a:ext cx="5286375" cy="70485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4" name="diagram-456"/>
          <p:cNvSpPr>
            <a:spLocks noGrp="1"/>
          </p:cNvSpPr>
          <p:nvPr/>
        </p:nvSpPr>
        <p:spPr>
          <a:xfrm>
            <a:off x="2857500" y="6524625"/>
            <a:ext cx="9525000" cy="9144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5" name="text-457"/>
          <p:cNvSpPr>
            <a:spLocks noGrp="1"/>
          </p:cNvSpPr>
          <p:nvPr/>
        </p:nvSpPr>
        <p:spPr>
          <a:xfrm>
            <a:off x="3028950" y="6619875"/>
            <a:ext cx="91821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QB + QOS + Compiler + Hardware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458"/>
          <p:cNvSpPr>
            <a:spLocks noGrp="1"/>
          </p:cNvSpPr>
          <p:nvPr/>
        </p:nvSpPr>
        <p:spPr>
          <a:xfrm>
            <a:off x="3028950" y="7048500"/>
            <a:ext cx="91821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建模、求解、可微优化、调度、执行与可复现结果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4" name="直接箭头连接符 53"/>
          <p:cNvCxnSpPr>
            <a:stCxn id="24" idx="0"/>
            <a:endCxn id="17" idx="2"/>
          </p:cNvCxnSpPr>
          <p:nvPr/>
        </p:nvCxnSpPr>
        <p:spPr>
          <a:xfrm flipV="1">
            <a:off x="7620000" y="5686425"/>
            <a:ext cx="0" cy="83820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text-459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Science：自然科学应用框架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460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quantum_bridge_science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461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统一领域模型与算子，采用 VQE、时间演化及可微求解，输出能量、物性与结构。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462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463"/>
          <p:cNvSpPr>
            <a:spLocks noGrp="1"/>
          </p:cNvSpPr>
          <p:nvPr/>
        </p:nvSpPr>
        <p:spPr>
          <a:xfrm>
            <a:off x="3048000" y="2076450"/>
            <a:ext cx="9144000" cy="99060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6" name="text-464"/>
          <p:cNvSpPr>
            <a:spLocks noGrp="1"/>
          </p:cNvSpPr>
          <p:nvPr/>
        </p:nvSpPr>
        <p:spPr>
          <a:xfrm>
            <a:off x="3219450" y="2171700"/>
            <a:ext cx="8801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Science Problem / Hamiltonian / Solver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465"/>
          <p:cNvSpPr>
            <a:spLocks noGrp="1"/>
          </p:cNvSpPr>
          <p:nvPr/>
        </p:nvSpPr>
        <p:spPr>
          <a:xfrm>
            <a:off x="3219450" y="2657475"/>
            <a:ext cx="88011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数据与结构、模型构建、量子求解、物理性质和经典对照</a:t>
            </a:r>
            <a:endParaRPr sz="17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466"/>
          <p:cNvSpPr>
            <a:spLocks noGrp="1"/>
          </p:cNvSpPr>
          <p:nvPr/>
        </p:nvSpPr>
        <p:spPr>
          <a:xfrm>
            <a:off x="762000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467"/>
          <p:cNvSpPr>
            <a:spLocks noGrp="1"/>
          </p:cNvSpPr>
          <p:nvPr/>
        </p:nvSpPr>
        <p:spPr>
          <a:xfrm>
            <a:off x="933450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量子化学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468"/>
          <p:cNvSpPr>
            <a:spLocks noGrp="1"/>
          </p:cNvSpPr>
          <p:nvPr/>
        </p:nvSpPr>
        <p:spPr>
          <a:xfrm>
            <a:off x="933450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分子哈密顿 / HF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UCCSD / VQE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能级 / 偶极矩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分子几何优化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4" name="肘形连接符 33"/>
          <p:cNvCxnSpPr>
            <a:stCxn id="5" idx="2"/>
            <a:endCxn id="8" idx="0"/>
          </p:cNvCxnSpPr>
          <p:nvPr/>
        </p:nvCxnSpPr>
        <p:spPr>
          <a:xfrm flipH="1">
            <a:off x="2369344" y="3067050"/>
            <a:ext cx="5250656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2" name="diagram-469"/>
          <p:cNvSpPr>
            <a:spLocks noGrp="1"/>
          </p:cNvSpPr>
          <p:nvPr/>
        </p:nvSpPr>
        <p:spPr>
          <a:xfrm>
            <a:off x="4262438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3" name="text-470"/>
          <p:cNvSpPr>
            <a:spLocks noGrp="1"/>
          </p:cNvSpPr>
          <p:nvPr/>
        </p:nvSpPr>
        <p:spPr>
          <a:xfrm>
            <a:off x="4433888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材料科学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471"/>
          <p:cNvSpPr>
            <a:spLocks noGrp="1"/>
          </p:cNvSpPr>
          <p:nvPr/>
        </p:nvSpPr>
        <p:spPr>
          <a:xfrm>
            <a:off x="4433888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晶格 / 能带 / 多体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半导体 / 电池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催化与表面吸附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物性与相变研究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8" name="肘形连接符 37"/>
          <p:cNvCxnSpPr>
            <a:stCxn id="5" idx="2"/>
            <a:endCxn id="12" idx="0"/>
          </p:cNvCxnSpPr>
          <p:nvPr/>
        </p:nvCxnSpPr>
        <p:spPr>
          <a:xfrm flipH="1">
            <a:off x="5869782" y="3067050"/>
            <a:ext cx="1750218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6" name="diagram-472"/>
          <p:cNvSpPr>
            <a:spLocks noGrp="1"/>
          </p:cNvSpPr>
          <p:nvPr/>
        </p:nvSpPr>
        <p:spPr>
          <a:xfrm>
            <a:off x="7762875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7" name="text-473"/>
          <p:cNvSpPr>
            <a:spLocks noGrp="1"/>
          </p:cNvSpPr>
          <p:nvPr/>
        </p:nvSpPr>
        <p:spPr>
          <a:xfrm>
            <a:off x="7934325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生物医药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474"/>
          <p:cNvSpPr>
            <a:spLocks noGrp="1"/>
          </p:cNvSpPr>
          <p:nvPr/>
        </p:nvSpPr>
        <p:spPr>
          <a:xfrm>
            <a:off x="7934325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小分子与构象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蛋白分区 / 活性空间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靶向适配相关模型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生物大分子能量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2" name="肘形连接符 41"/>
          <p:cNvCxnSpPr>
            <a:stCxn id="5" idx="2"/>
            <a:endCxn id="16" idx="0"/>
          </p:cNvCxnSpPr>
          <p:nvPr/>
        </p:nvCxnSpPr>
        <p:spPr>
          <a:xfrm>
            <a:off x="7620000" y="3067050"/>
            <a:ext cx="1750219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0" name="diagram-475"/>
          <p:cNvSpPr>
            <a:spLocks noGrp="1"/>
          </p:cNvSpPr>
          <p:nvPr/>
        </p:nvSpPr>
        <p:spPr>
          <a:xfrm>
            <a:off x="11263313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1" name="text-476"/>
          <p:cNvSpPr>
            <a:spLocks noGrp="1"/>
          </p:cNvSpPr>
          <p:nvPr/>
        </p:nvSpPr>
        <p:spPr>
          <a:xfrm>
            <a:off x="11434763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基础物理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477"/>
          <p:cNvSpPr>
            <a:spLocks noGrp="1"/>
          </p:cNvSpPr>
          <p:nvPr/>
        </p:nvSpPr>
        <p:spPr>
          <a:xfrm>
            <a:off x="11434763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自旋与多体系统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简化原子核模型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量子动力学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观测量与守恒分析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6" name="肘形连接符 45"/>
          <p:cNvCxnSpPr>
            <a:stCxn id="5" idx="2"/>
            <a:endCxn id="20" idx="0"/>
          </p:cNvCxnSpPr>
          <p:nvPr/>
        </p:nvCxnSpPr>
        <p:spPr>
          <a:xfrm>
            <a:off x="7620000" y="3067050"/>
            <a:ext cx="5250657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text-478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Finance：金融建模与量子求解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479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quantum_bridge_finance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480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统一金融数据、约束、风险指标和结果验证，保留经典基线。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481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482"/>
          <p:cNvSpPr>
            <a:spLocks noGrp="1"/>
          </p:cNvSpPr>
          <p:nvPr/>
        </p:nvSpPr>
        <p:spPr>
          <a:xfrm>
            <a:off x="4762500" y="2076450"/>
            <a:ext cx="5715000" cy="99060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6" name="text-483"/>
          <p:cNvSpPr>
            <a:spLocks noGrp="1"/>
          </p:cNvSpPr>
          <p:nvPr/>
        </p:nvSpPr>
        <p:spPr>
          <a:xfrm>
            <a:off x="4933950" y="2171700"/>
            <a:ext cx="5372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金融问题、概率模型与约束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484"/>
          <p:cNvSpPr>
            <a:spLocks noGrp="1"/>
          </p:cNvSpPr>
          <p:nvPr/>
        </p:nvSpPr>
        <p:spPr>
          <a:xfrm>
            <a:off x="4933950" y="2657475"/>
            <a:ext cx="53721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共享 QUBO / Ising、振幅估计、ML 和统一执行接口</a:t>
            </a:r>
            <a:endParaRPr sz="17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485"/>
          <p:cNvSpPr>
            <a:spLocks noGrp="1"/>
          </p:cNvSpPr>
          <p:nvPr/>
        </p:nvSpPr>
        <p:spPr>
          <a:xfrm>
            <a:off x="76200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486"/>
          <p:cNvSpPr>
            <a:spLocks noGrp="1"/>
          </p:cNvSpPr>
          <p:nvPr/>
        </p:nvSpPr>
        <p:spPr>
          <a:xfrm>
            <a:off x="93345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量化投资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487"/>
          <p:cNvSpPr>
            <a:spLocks noGrp="1"/>
          </p:cNvSpPr>
          <p:nvPr/>
        </p:nvSpPr>
        <p:spPr>
          <a:xfrm>
            <a:off x="93345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资产组合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权重分配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收益风险平衡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交易与预算约束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8" name="肘形连接符 37"/>
          <p:cNvCxnSpPr>
            <a:stCxn id="5" idx="2"/>
            <a:endCxn id="8" idx="0"/>
          </p:cNvCxnSpPr>
          <p:nvPr/>
        </p:nvCxnSpPr>
        <p:spPr>
          <a:xfrm flipH="1">
            <a:off x="2042160" y="3067050"/>
            <a:ext cx="5577840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2" name="diagram-488"/>
          <p:cNvSpPr>
            <a:spLocks noGrp="1"/>
          </p:cNvSpPr>
          <p:nvPr/>
        </p:nvSpPr>
        <p:spPr>
          <a:xfrm>
            <a:off x="355092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3" name="text-489"/>
          <p:cNvSpPr>
            <a:spLocks noGrp="1"/>
          </p:cNvSpPr>
          <p:nvPr/>
        </p:nvSpPr>
        <p:spPr>
          <a:xfrm>
            <a:off x="372237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风险计量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490"/>
          <p:cNvSpPr>
            <a:spLocks noGrp="1"/>
          </p:cNvSpPr>
          <p:nvPr/>
        </p:nvSpPr>
        <p:spPr>
          <a:xfrm>
            <a:off x="372237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VaR / CVaR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市场风险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信用风险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流动性风险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2" name="肘形连接符 41"/>
          <p:cNvCxnSpPr>
            <a:stCxn id="5" idx="2"/>
            <a:endCxn id="12" idx="0"/>
          </p:cNvCxnSpPr>
          <p:nvPr/>
        </p:nvCxnSpPr>
        <p:spPr>
          <a:xfrm flipH="1">
            <a:off x="4831080" y="3067050"/>
            <a:ext cx="2788920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6" name="diagram-491"/>
          <p:cNvSpPr>
            <a:spLocks noGrp="1"/>
          </p:cNvSpPr>
          <p:nvPr/>
        </p:nvSpPr>
        <p:spPr>
          <a:xfrm>
            <a:off x="633984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7" name="text-492"/>
          <p:cNvSpPr>
            <a:spLocks noGrp="1"/>
          </p:cNvSpPr>
          <p:nvPr/>
        </p:nvSpPr>
        <p:spPr>
          <a:xfrm>
            <a:off x="651129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衍生品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493"/>
          <p:cNvSpPr>
            <a:spLocks noGrp="1"/>
          </p:cNvSpPr>
          <p:nvPr/>
        </p:nvSpPr>
        <p:spPr>
          <a:xfrm>
            <a:off x="651129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期权定价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期货对冲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多资产估值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数值误差评估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6" name="直接箭头连接符 45"/>
          <p:cNvCxnSpPr>
            <a:stCxn id="5" idx="2"/>
            <a:endCxn id="16" idx="0"/>
          </p:cNvCxnSpPr>
          <p:nvPr/>
        </p:nvCxnSpPr>
        <p:spPr>
          <a:xfrm>
            <a:off x="7620000" y="3067050"/>
            <a:ext cx="0" cy="87630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0" name="diagram-494"/>
          <p:cNvSpPr>
            <a:spLocks noGrp="1"/>
          </p:cNvSpPr>
          <p:nvPr/>
        </p:nvSpPr>
        <p:spPr>
          <a:xfrm>
            <a:off x="912876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1" name="text-495"/>
          <p:cNvSpPr>
            <a:spLocks noGrp="1"/>
          </p:cNvSpPr>
          <p:nvPr/>
        </p:nvSpPr>
        <p:spPr>
          <a:xfrm>
            <a:off x="930021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金融优化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496"/>
          <p:cNvSpPr>
            <a:spLocks noGrp="1"/>
          </p:cNvSpPr>
          <p:nvPr/>
        </p:nvSpPr>
        <p:spPr>
          <a:xfrm>
            <a:off x="930021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QUBO / Ising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金融约束转换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求解与解码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可行性检查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0" name="肘形连接符 49"/>
          <p:cNvCxnSpPr>
            <a:stCxn id="5" idx="2"/>
            <a:endCxn id="20" idx="0"/>
          </p:cNvCxnSpPr>
          <p:nvPr/>
        </p:nvCxnSpPr>
        <p:spPr>
          <a:xfrm>
            <a:off x="7620000" y="3067050"/>
            <a:ext cx="2788920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4" name="diagram-497"/>
          <p:cNvSpPr>
            <a:spLocks noGrp="1"/>
          </p:cNvSpPr>
          <p:nvPr/>
        </p:nvSpPr>
        <p:spPr>
          <a:xfrm>
            <a:off x="1191768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5" name="text-498"/>
          <p:cNvSpPr>
            <a:spLocks noGrp="1"/>
          </p:cNvSpPr>
          <p:nvPr/>
        </p:nvSpPr>
        <p:spPr>
          <a:xfrm>
            <a:off x="1208913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相关与波动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499"/>
          <p:cNvSpPr>
            <a:spLocks noGrp="1"/>
          </p:cNvSpPr>
          <p:nvPr/>
        </p:nvSpPr>
        <p:spPr>
          <a:xfrm>
            <a:off x="1208913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相关矩阵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概率分布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市场波动模型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情景生成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4" name="肘形连接符 53"/>
          <p:cNvCxnSpPr>
            <a:stCxn id="5" idx="2"/>
            <a:endCxn id="24" idx="0"/>
          </p:cNvCxnSpPr>
          <p:nvPr/>
        </p:nvCxnSpPr>
        <p:spPr>
          <a:xfrm>
            <a:off x="7620000" y="3067050"/>
            <a:ext cx="5577840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text-500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Industry：工业优化与资源决策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501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quantum_bridge_industry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502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对支持的问题族提供编码与求解，保留原始目标、约束和最优性差距。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503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504"/>
          <p:cNvSpPr>
            <a:spLocks noGrp="1"/>
          </p:cNvSpPr>
          <p:nvPr/>
        </p:nvSpPr>
        <p:spPr>
          <a:xfrm>
            <a:off x="4762500" y="2076450"/>
            <a:ext cx="5715000" cy="99060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6" name="text-505"/>
          <p:cNvSpPr>
            <a:spLocks noGrp="1"/>
          </p:cNvSpPr>
          <p:nvPr/>
        </p:nvSpPr>
        <p:spPr>
          <a:xfrm>
            <a:off x="4933950" y="2171700"/>
            <a:ext cx="5372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工业问题、约束模型与求解器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506"/>
          <p:cNvSpPr>
            <a:spLocks noGrp="1"/>
          </p:cNvSpPr>
          <p:nvPr/>
        </p:nvSpPr>
        <p:spPr>
          <a:xfrm>
            <a:off x="4933950" y="2657475"/>
            <a:ext cx="53721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 / 经典 / 混合求解，共享结果解码和可行性验证</a:t>
            </a:r>
            <a:endParaRPr sz="17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507"/>
          <p:cNvSpPr>
            <a:spLocks noGrp="1"/>
          </p:cNvSpPr>
          <p:nvPr/>
        </p:nvSpPr>
        <p:spPr>
          <a:xfrm>
            <a:off x="76200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508"/>
          <p:cNvSpPr>
            <a:spLocks noGrp="1"/>
          </p:cNvSpPr>
          <p:nvPr/>
        </p:nvSpPr>
        <p:spPr>
          <a:xfrm>
            <a:off x="93345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通用组合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509"/>
          <p:cNvSpPr>
            <a:spLocks noGrp="1"/>
          </p:cNvSpPr>
          <p:nvPr/>
        </p:nvSpPr>
        <p:spPr>
          <a:xfrm>
            <a:off x="93345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QUBO / Ising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MaxCut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最小生成树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图与组合问题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8" name="肘形连接符 37"/>
          <p:cNvCxnSpPr>
            <a:stCxn id="5" idx="2"/>
            <a:endCxn id="8" idx="0"/>
          </p:cNvCxnSpPr>
          <p:nvPr/>
        </p:nvCxnSpPr>
        <p:spPr>
          <a:xfrm flipH="1">
            <a:off x="2042160" y="3067050"/>
            <a:ext cx="5577840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2" name="diagram-510"/>
          <p:cNvSpPr>
            <a:spLocks noGrp="1"/>
          </p:cNvSpPr>
          <p:nvPr/>
        </p:nvSpPr>
        <p:spPr>
          <a:xfrm>
            <a:off x="355092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3" name="text-511"/>
          <p:cNvSpPr>
            <a:spLocks noGrp="1"/>
          </p:cNvSpPr>
          <p:nvPr/>
        </p:nvSpPr>
        <p:spPr>
          <a:xfrm>
            <a:off x="372237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路径与调度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512"/>
          <p:cNvSpPr>
            <a:spLocks noGrp="1"/>
          </p:cNvSpPr>
          <p:nvPr/>
        </p:nvSpPr>
        <p:spPr>
          <a:xfrm>
            <a:off x="372237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TSP / VRP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仓储物流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车间排程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时间窗与资源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2" name="肘形连接符 41"/>
          <p:cNvCxnSpPr>
            <a:stCxn id="5" idx="2"/>
            <a:endCxn id="12" idx="0"/>
          </p:cNvCxnSpPr>
          <p:nvPr/>
        </p:nvCxnSpPr>
        <p:spPr>
          <a:xfrm flipH="1">
            <a:off x="4831080" y="3067050"/>
            <a:ext cx="2788920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6" name="diagram-513"/>
          <p:cNvSpPr>
            <a:spLocks noGrp="1"/>
          </p:cNvSpPr>
          <p:nvPr/>
        </p:nvSpPr>
        <p:spPr>
          <a:xfrm>
            <a:off x="633984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7" name="text-514"/>
          <p:cNvSpPr>
            <a:spLocks noGrp="1"/>
          </p:cNvSpPr>
          <p:nvPr/>
        </p:nvSpPr>
        <p:spPr>
          <a:xfrm>
            <a:off x="651129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产业资源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515"/>
          <p:cNvSpPr>
            <a:spLocks noGrp="1"/>
          </p:cNvSpPr>
          <p:nvPr/>
        </p:nvSpPr>
        <p:spPr>
          <a:xfrm>
            <a:off x="651129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供应链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产能分配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人力和设备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多周期计划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6" name="直接箭头连接符 45"/>
          <p:cNvCxnSpPr>
            <a:stCxn id="5" idx="2"/>
            <a:endCxn id="16" idx="0"/>
          </p:cNvCxnSpPr>
          <p:nvPr/>
        </p:nvCxnSpPr>
        <p:spPr>
          <a:xfrm>
            <a:off x="7620000" y="3067050"/>
            <a:ext cx="0" cy="87630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0" name="diagram-516"/>
          <p:cNvSpPr>
            <a:spLocks noGrp="1"/>
          </p:cNvSpPr>
          <p:nvPr/>
        </p:nvSpPr>
        <p:spPr>
          <a:xfrm>
            <a:off x="912876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1" name="text-517"/>
          <p:cNvSpPr>
            <a:spLocks noGrp="1"/>
          </p:cNvSpPr>
          <p:nvPr/>
        </p:nvSpPr>
        <p:spPr>
          <a:xfrm>
            <a:off x="930021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能源工业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518"/>
          <p:cNvSpPr>
            <a:spLocks noGrp="1"/>
          </p:cNvSpPr>
          <p:nvPr/>
        </p:nvSpPr>
        <p:spPr>
          <a:xfrm>
            <a:off x="930021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电网负荷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新能源调度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储能配置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能耗优化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0" name="肘形连接符 49"/>
          <p:cNvCxnSpPr>
            <a:stCxn id="5" idx="2"/>
            <a:endCxn id="20" idx="0"/>
          </p:cNvCxnSpPr>
          <p:nvPr/>
        </p:nvCxnSpPr>
        <p:spPr>
          <a:xfrm>
            <a:off x="7620000" y="3067050"/>
            <a:ext cx="2788920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4" name="diagram-519"/>
          <p:cNvSpPr>
            <a:spLocks noGrp="1"/>
          </p:cNvSpPr>
          <p:nvPr/>
        </p:nvSpPr>
        <p:spPr>
          <a:xfrm>
            <a:off x="1191768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5" name="text-520"/>
          <p:cNvSpPr>
            <a:spLocks noGrp="1"/>
          </p:cNvSpPr>
          <p:nvPr/>
        </p:nvSpPr>
        <p:spPr>
          <a:xfrm>
            <a:off x="1208913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工程数学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521"/>
          <p:cNvSpPr>
            <a:spLocks noGrp="1"/>
          </p:cNvSpPr>
          <p:nvPr/>
        </p:nvSpPr>
        <p:spPr>
          <a:xfrm>
            <a:off x="1208913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整数规划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约束优化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混合求解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复杂工业建模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4" name="肘形连接符 53"/>
          <p:cNvCxnSpPr>
            <a:stCxn id="5" idx="2"/>
            <a:endCxn id="24" idx="0"/>
          </p:cNvCxnSpPr>
          <p:nvPr/>
        </p:nvCxnSpPr>
        <p:spPr>
          <a:xfrm>
            <a:off x="7620000" y="3067050"/>
            <a:ext cx="5577840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text-522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Crypto：密码、通信与量子安全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523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quantum_bridge_crypto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524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标准密码、候选研究、协议仿真与物理熵源分别标注能力与验收范围。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525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526"/>
          <p:cNvSpPr>
            <a:spLocks noGrp="1"/>
          </p:cNvSpPr>
          <p:nvPr/>
        </p:nvSpPr>
        <p:spPr>
          <a:xfrm>
            <a:off x="4762500" y="2076450"/>
            <a:ext cx="5715000" cy="99060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6" name="text-527"/>
          <p:cNvSpPr>
            <a:spLocks noGrp="1"/>
          </p:cNvSpPr>
          <p:nvPr/>
        </p:nvSpPr>
        <p:spPr>
          <a:xfrm>
            <a:off x="4933950" y="2171700"/>
            <a:ext cx="5372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Crypto 协议与安全服务接口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528"/>
          <p:cNvSpPr>
            <a:spLocks noGrp="1"/>
          </p:cNvSpPr>
          <p:nvPr/>
        </p:nvSpPr>
        <p:spPr>
          <a:xfrm>
            <a:off x="4933950" y="2657475"/>
            <a:ext cx="53721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算法参数、威胁模型、密钥流程、设备来源与验证结果</a:t>
            </a:r>
            <a:endParaRPr sz="17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529"/>
          <p:cNvSpPr>
            <a:spLocks noGrp="1"/>
          </p:cNvSpPr>
          <p:nvPr/>
        </p:nvSpPr>
        <p:spPr>
          <a:xfrm>
            <a:off x="76200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530"/>
          <p:cNvSpPr>
            <a:spLocks noGrp="1"/>
          </p:cNvSpPr>
          <p:nvPr/>
        </p:nvSpPr>
        <p:spPr>
          <a:xfrm>
            <a:off x="93345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后量子密码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531"/>
          <p:cNvSpPr>
            <a:spLocks noGrp="1"/>
          </p:cNvSpPr>
          <p:nvPr/>
        </p:nvSpPr>
        <p:spPr>
          <a:xfrm>
            <a:off x="93345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ML-KEM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ML-DSA / SLH-DSA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UOV / SNOVA 研究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测试向量与互操作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8" name="肘形连接符 37"/>
          <p:cNvCxnSpPr>
            <a:stCxn id="5" idx="2"/>
            <a:endCxn id="8" idx="0"/>
          </p:cNvCxnSpPr>
          <p:nvPr/>
        </p:nvCxnSpPr>
        <p:spPr>
          <a:xfrm flipH="1">
            <a:off x="2042160" y="3067050"/>
            <a:ext cx="5577840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2" name="diagram-532"/>
          <p:cNvSpPr>
            <a:spLocks noGrp="1"/>
          </p:cNvSpPr>
          <p:nvPr/>
        </p:nvSpPr>
        <p:spPr>
          <a:xfrm>
            <a:off x="355092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3" name="text-533"/>
          <p:cNvSpPr>
            <a:spLocks noGrp="1"/>
          </p:cNvSpPr>
          <p:nvPr/>
        </p:nvSpPr>
        <p:spPr>
          <a:xfrm>
            <a:off x="372237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量子通信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534"/>
          <p:cNvSpPr>
            <a:spLocks noGrp="1"/>
          </p:cNvSpPr>
          <p:nvPr/>
        </p:nvSpPr>
        <p:spPr>
          <a:xfrm>
            <a:off x="372237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QKD / BB84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认证经典信道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链路与噪声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协商与密钥管理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2" name="肘形连接符 41"/>
          <p:cNvCxnSpPr>
            <a:stCxn id="5" idx="2"/>
            <a:endCxn id="12" idx="0"/>
          </p:cNvCxnSpPr>
          <p:nvPr/>
        </p:nvCxnSpPr>
        <p:spPr>
          <a:xfrm flipH="1">
            <a:off x="4831080" y="3067050"/>
            <a:ext cx="2788920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6" name="diagram-535"/>
          <p:cNvSpPr>
            <a:spLocks noGrp="1"/>
          </p:cNvSpPr>
          <p:nvPr/>
        </p:nvSpPr>
        <p:spPr>
          <a:xfrm>
            <a:off x="633984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7" name="text-536"/>
          <p:cNvSpPr>
            <a:spLocks noGrp="1"/>
          </p:cNvSpPr>
          <p:nvPr/>
        </p:nvSpPr>
        <p:spPr>
          <a:xfrm>
            <a:off x="651129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量子安全分析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537"/>
          <p:cNvSpPr>
            <a:spLocks noGrp="1"/>
          </p:cNvSpPr>
          <p:nvPr/>
        </p:nvSpPr>
        <p:spPr>
          <a:xfrm>
            <a:off x="651129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Shor / Grover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RSA-2048 资源估计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抗量子能力评估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授权实验与迁移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6" name="直接箭头连接符 45"/>
          <p:cNvCxnSpPr>
            <a:stCxn id="5" idx="2"/>
            <a:endCxn id="16" idx="0"/>
          </p:cNvCxnSpPr>
          <p:nvPr/>
        </p:nvCxnSpPr>
        <p:spPr>
          <a:xfrm>
            <a:off x="7620000" y="3067050"/>
            <a:ext cx="0" cy="87630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0" name="diagram-538"/>
          <p:cNvSpPr>
            <a:spLocks noGrp="1"/>
          </p:cNvSpPr>
          <p:nvPr/>
        </p:nvSpPr>
        <p:spPr>
          <a:xfrm>
            <a:off x="912876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1" name="text-539"/>
          <p:cNvSpPr>
            <a:spLocks noGrp="1"/>
          </p:cNvSpPr>
          <p:nvPr/>
        </p:nvSpPr>
        <p:spPr>
          <a:xfrm>
            <a:off x="930021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安全基础设施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540"/>
          <p:cNvSpPr>
            <a:spLocks noGrp="1"/>
          </p:cNvSpPr>
          <p:nvPr/>
        </p:nvSpPr>
        <p:spPr>
          <a:xfrm>
            <a:off x="930021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QRNG 设备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物理熵源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健康检测 / 提取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加密算力适配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0" name="肘形连接符 49"/>
          <p:cNvCxnSpPr>
            <a:stCxn id="5" idx="2"/>
            <a:endCxn id="20" idx="0"/>
          </p:cNvCxnSpPr>
          <p:nvPr/>
        </p:nvCxnSpPr>
        <p:spPr>
          <a:xfrm>
            <a:off x="7620000" y="3067050"/>
            <a:ext cx="2788920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4" name="diagram-541"/>
          <p:cNvSpPr>
            <a:spLocks noGrp="1"/>
          </p:cNvSpPr>
          <p:nvPr/>
        </p:nvSpPr>
        <p:spPr>
          <a:xfrm>
            <a:off x="11917680" y="3943350"/>
            <a:ext cx="2560320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5" name="text-542"/>
          <p:cNvSpPr>
            <a:spLocks noGrp="1"/>
          </p:cNvSpPr>
          <p:nvPr/>
        </p:nvSpPr>
        <p:spPr>
          <a:xfrm>
            <a:off x="12089130" y="4114800"/>
            <a:ext cx="22174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隐私与数据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543"/>
          <p:cNvSpPr>
            <a:spLocks noGrp="1"/>
          </p:cNvSpPr>
          <p:nvPr/>
        </p:nvSpPr>
        <p:spPr>
          <a:xfrm>
            <a:off x="12089130" y="4695825"/>
            <a:ext cx="2217420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量子隐私计算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加密数据运算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安全误差校验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协议安全研究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4" name="肘形连接符 53"/>
          <p:cNvCxnSpPr>
            <a:stCxn id="5" idx="2"/>
            <a:endCxn id="24" idx="0"/>
          </p:cNvCxnSpPr>
          <p:nvPr/>
        </p:nvCxnSpPr>
        <p:spPr>
          <a:xfrm>
            <a:off x="7620000" y="3067050"/>
            <a:ext cx="5577840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text-544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Visual：贯穿运行过程的可视化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545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quantum_bridge_visual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546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图形视图绑定运行数据和版本，既服务算法开发，也服务行业交付。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547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21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548"/>
          <p:cNvSpPr>
            <a:spLocks noGrp="1"/>
          </p:cNvSpPr>
          <p:nvPr/>
        </p:nvSpPr>
        <p:spPr>
          <a:xfrm>
            <a:off x="4762500" y="2076450"/>
            <a:ext cx="5715000" cy="990600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6" name="text-549"/>
          <p:cNvSpPr>
            <a:spLocks noGrp="1"/>
          </p:cNvSpPr>
          <p:nvPr/>
        </p:nvSpPr>
        <p:spPr>
          <a:xfrm>
            <a:off x="4933950" y="2171700"/>
            <a:ext cx="5372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可视化数据与渲染接口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550"/>
          <p:cNvSpPr>
            <a:spLocks noGrp="1"/>
          </p:cNvSpPr>
          <p:nvPr/>
        </p:nvSpPr>
        <p:spPr>
          <a:xfrm>
            <a:off x="4933950" y="2657475"/>
            <a:ext cx="53721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读取 Circuit、Job、Result、Manifest 与领域数据</a:t>
            </a:r>
            <a:endParaRPr sz="17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551"/>
          <p:cNvSpPr>
            <a:spLocks noGrp="1"/>
          </p:cNvSpPr>
          <p:nvPr/>
        </p:nvSpPr>
        <p:spPr>
          <a:xfrm>
            <a:off x="762000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552"/>
          <p:cNvSpPr>
            <a:spLocks noGrp="1"/>
          </p:cNvSpPr>
          <p:nvPr/>
        </p:nvSpPr>
        <p:spPr>
          <a:xfrm>
            <a:off x="933450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线路与编译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553"/>
          <p:cNvSpPr>
            <a:spLocks noGrp="1"/>
          </p:cNvSpPr>
          <p:nvPr/>
        </p:nvSpPr>
        <p:spPr>
          <a:xfrm>
            <a:off x="933450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电路 / 门 / 测量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编译前后对照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目标拓扑与路由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资源估计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4" name="肘形连接符 33"/>
          <p:cNvCxnSpPr>
            <a:stCxn id="5" idx="2"/>
            <a:endCxn id="8" idx="0"/>
          </p:cNvCxnSpPr>
          <p:nvPr/>
        </p:nvCxnSpPr>
        <p:spPr>
          <a:xfrm flipH="1">
            <a:off x="2369344" y="3067050"/>
            <a:ext cx="5250656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2" name="diagram-554"/>
          <p:cNvSpPr>
            <a:spLocks noGrp="1"/>
          </p:cNvSpPr>
          <p:nvPr/>
        </p:nvSpPr>
        <p:spPr>
          <a:xfrm>
            <a:off x="4262438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3" name="text-555"/>
          <p:cNvSpPr>
            <a:spLocks noGrp="1"/>
          </p:cNvSpPr>
          <p:nvPr/>
        </p:nvSpPr>
        <p:spPr>
          <a:xfrm>
            <a:off x="4433888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仿真与训练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556"/>
          <p:cNvSpPr>
            <a:spLocks noGrp="1"/>
          </p:cNvSpPr>
          <p:nvPr/>
        </p:nvSpPr>
        <p:spPr>
          <a:xfrm>
            <a:off x="4433888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概率 / counts / 状态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收敛与梯度曲线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噪声与缓解比较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参数扫描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8" name="肘形连接符 37"/>
          <p:cNvCxnSpPr>
            <a:stCxn id="5" idx="2"/>
            <a:endCxn id="12" idx="0"/>
          </p:cNvCxnSpPr>
          <p:nvPr/>
        </p:nvCxnSpPr>
        <p:spPr>
          <a:xfrm flipH="1">
            <a:off x="5869782" y="3067050"/>
            <a:ext cx="1750218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6" name="diagram-557"/>
          <p:cNvSpPr>
            <a:spLocks noGrp="1"/>
          </p:cNvSpPr>
          <p:nvPr/>
        </p:nvSpPr>
        <p:spPr>
          <a:xfrm>
            <a:off x="7762875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7" name="text-558"/>
          <p:cNvSpPr>
            <a:spLocks noGrp="1"/>
          </p:cNvSpPr>
          <p:nvPr/>
        </p:nvSpPr>
        <p:spPr>
          <a:xfrm>
            <a:off x="7934325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行业结果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559"/>
          <p:cNvSpPr>
            <a:spLocks noGrp="1"/>
          </p:cNvSpPr>
          <p:nvPr/>
        </p:nvSpPr>
        <p:spPr>
          <a:xfrm>
            <a:off x="7934325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能量与能谱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金融风险分布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路径与排程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优化约束结果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2" name="肘形连接符 41"/>
          <p:cNvCxnSpPr>
            <a:stCxn id="5" idx="2"/>
            <a:endCxn id="16" idx="0"/>
          </p:cNvCxnSpPr>
          <p:nvPr/>
        </p:nvCxnSpPr>
        <p:spPr>
          <a:xfrm>
            <a:off x="7620000" y="3067050"/>
            <a:ext cx="1750219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0" name="diagram-560"/>
          <p:cNvSpPr>
            <a:spLocks noGrp="1"/>
          </p:cNvSpPr>
          <p:nvPr/>
        </p:nvSpPr>
        <p:spPr>
          <a:xfrm>
            <a:off x="11263313" y="3943350"/>
            <a:ext cx="3214688" cy="30099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21" name="text-561"/>
          <p:cNvSpPr>
            <a:spLocks noGrp="1"/>
          </p:cNvSpPr>
          <p:nvPr/>
        </p:nvSpPr>
        <p:spPr>
          <a:xfrm>
            <a:off x="11434763" y="4114800"/>
            <a:ext cx="2871788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运行与报告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562"/>
          <p:cNvSpPr>
            <a:spLocks noGrp="1"/>
          </p:cNvSpPr>
          <p:nvPr/>
        </p:nvSpPr>
        <p:spPr>
          <a:xfrm>
            <a:off x="11434763" y="4695825"/>
            <a:ext cx="2871788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队列 / 任务状态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成本与决策解释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Studio 交互展示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图像与报告导出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6" name="肘形连接符 45"/>
          <p:cNvCxnSpPr>
            <a:stCxn id="5" idx="2"/>
            <a:endCxn id="20" idx="0"/>
          </p:cNvCxnSpPr>
          <p:nvPr/>
        </p:nvCxnSpPr>
        <p:spPr>
          <a:xfrm>
            <a:off x="7620000" y="3067050"/>
            <a:ext cx="5250657" cy="87630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text-563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Benchmark：算法到硬件的统一评测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564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quantum_bridge_benchmark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565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复用既有 Benchpress 风格 registry / runner，输出可复跑的环境与统计报告。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566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22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567"/>
          <p:cNvSpPr>
            <a:spLocks noGrp="1"/>
          </p:cNvSpPr>
          <p:nvPr/>
        </p:nvSpPr>
        <p:spPr>
          <a:xfrm>
            <a:off x="762000" y="2390775"/>
            <a:ext cx="2453640" cy="18859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568"/>
          <p:cNvSpPr>
            <a:spLocks noGrp="1"/>
          </p:cNvSpPr>
          <p:nvPr/>
        </p:nvSpPr>
        <p:spPr>
          <a:xfrm>
            <a:off x="933450" y="256222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工作负载集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569"/>
          <p:cNvSpPr>
            <a:spLocks noGrp="1"/>
          </p:cNvSpPr>
          <p:nvPr/>
        </p:nvSpPr>
        <p:spPr>
          <a:xfrm>
            <a:off x="933450" y="3133725"/>
            <a:ext cx="211074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电路 / 算法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行业 / 硬件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570"/>
          <p:cNvSpPr>
            <a:spLocks noGrp="1"/>
          </p:cNvSpPr>
          <p:nvPr/>
        </p:nvSpPr>
        <p:spPr>
          <a:xfrm>
            <a:off x="3577590" y="2390775"/>
            <a:ext cx="2453640" cy="18859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571"/>
          <p:cNvSpPr>
            <a:spLocks noGrp="1"/>
          </p:cNvSpPr>
          <p:nvPr/>
        </p:nvSpPr>
        <p:spPr>
          <a:xfrm>
            <a:off x="3749040" y="256222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环境锁定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572"/>
          <p:cNvSpPr>
            <a:spLocks noGrp="1"/>
          </p:cNvSpPr>
          <p:nvPr/>
        </p:nvSpPr>
        <p:spPr>
          <a:xfrm>
            <a:off x="3749040" y="3133725"/>
            <a:ext cx="211074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 / 软件版本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 / 校准 / seed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573"/>
          <p:cNvSpPr>
            <a:spLocks noGrp="1"/>
          </p:cNvSpPr>
          <p:nvPr/>
        </p:nvSpPr>
        <p:spPr>
          <a:xfrm>
            <a:off x="6393180" y="2390775"/>
            <a:ext cx="2453640" cy="18859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574"/>
          <p:cNvSpPr>
            <a:spLocks noGrp="1"/>
          </p:cNvSpPr>
          <p:nvPr/>
        </p:nvSpPr>
        <p:spPr>
          <a:xfrm>
            <a:off x="6564630" y="256222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重复执行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575"/>
          <p:cNvSpPr>
            <a:spLocks noGrp="1"/>
          </p:cNvSpPr>
          <p:nvPr/>
        </p:nvSpPr>
        <p:spPr>
          <a:xfrm>
            <a:off x="6564630" y="3133725"/>
            <a:ext cx="211074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预热与多次运行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公平资源预算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576"/>
          <p:cNvSpPr>
            <a:spLocks noGrp="1"/>
          </p:cNvSpPr>
          <p:nvPr/>
        </p:nvSpPr>
        <p:spPr>
          <a:xfrm>
            <a:off x="9208770" y="2390775"/>
            <a:ext cx="2453640" cy="18859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5" name="text-577"/>
          <p:cNvSpPr>
            <a:spLocks noGrp="1"/>
          </p:cNvSpPr>
          <p:nvPr/>
        </p:nvSpPr>
        <p:spPr>
          <a:xfrm>
            <a:off x="9380220" y="256222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指标评估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578"/>
          <p:cNvSpPr>
            <a:spLocks noGrp="1"/>
          </p:cNvSpPr>
          <p:nvPr/>
        </p:nvSpPr>
        <p:spPr>
          <a:xfrm>
            <a:off x="9380220" y="3133725"/>
            <a:ext cx="211074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精度 / 延迟 / 内存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约束 / shots / 成本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diagram-579"/>
          <p:cNvSpPr>
            <a:spLocks noGrp="1"/>
          </p:cNvSpPr>
          <p:nvPr/>
        </p:nvSpPr>
        <p:spPr>
          <a:xfrm>
            <a:off x="12024360" y="2390775"/>
            <a:ext cx="2453640" cy="18859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8" name="text-580"/>
          <p:cNvSpPr>
            <a:spLocks noGrp="1"/>
          </p:cNvSpPr>
          <p:nvPr/>
        </p:nvSpPr>
        <p:spPr>
          <a:xfrm>
            <a:off x="12195810" y="256222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对照报告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581"/>
          <p:cNvSpPr>
            <a:spLocks noGrp="1"/>
          </p:cNvSpPr>
          <p:nvPr/>
        </p:nvSpPr>
        <p:spPr>
          <a:xfrm>
            <a:off x="12195810" y="3133725"/>
            <a:ext cx="211074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经典与量子基线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回归与趋势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9" name="直接箭头连接符 48"/>
          <p:cNvCxnSpPr>
            <a:stCxn id="5" idx="3"/>
            <a:endCxn id="8" idx="1"/>
          </p:cNvCxnSpPr>
          <p:nvPr/>
        </p:nvCxnSpPr>
        <p:spPr>
          <a:xfrm>
            <a:off x="3215640" y="3333750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0" name="直接箭头连接符 49"/>
          <p:cNvCxnSpPr>
            <a:stCxn id="8" idx="3"/>
            <a:endCxn id="11" idx="1"/>
          </p:cNvCxnSpPr>
          <p:nvPr/>
        </p:nvCxnSpPr>
        <p:spPr>
          <a:xfrm>
            <a:off x="6031230" y="3333750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1" name="直接箭头连接符 50"/>
          <p:cNvCxnSpPr>
            <a:stCxn id="11" idx="3"/>
            <a:endCxn id="14" idx="1"/>
          </p:cNvCxnSpPr>
          <p:nvPr/>
        </p:nvCxnSpPr>
        <p:spPr>
          <a:xfrm>
            <a:off x="8846820" y="3333750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2" name="直接箭头连接符 51"/>
          <p:cNvCxnSpPr>
            <a:stCxn id="14" idx="3"/>
            <a:endCxn id="17" idx="1"/>
          </p:cNvCxnSpPr>
          <p:nvPr/>
        </p:nvCxnSpPr>
        <p:spPr>
          <a:xfrm>
            <a:off x="11662410" y="3333750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4" name="text-582"/>
          <p:cNvSpPr>
            <a:spLocks noGrp="1"/>
          </p:cNvSpPr>
          <p:nvPr/>
        </p:nvSpPr>
        <p:spPr>
          <a:xfrm>
            <a:off x="762000" y="5410200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功能正确性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-583"/>
          <p:cNvSpPr>
            <a:spLocks noGrp="1"/>
          </p:cNvSpPr>
          <p:nvPr/>
        </p:nvSpPr>
        <p:spPr>
          <a:xfrm>
            <a:off x="762000" y="6019800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编译等价、梯度参考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领域指标与经典结果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584"/>
          <p:cNvSpPr>
            <a:spLocks noGrp="1"/>
          </p:cNvSpPr>
          <p:nvPr/>
        </p:nvSpPr>
        <p:spPr>
          <a:xfrm>
            <a:off x="5499100" y="5410200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性能与资源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-585"/>
          <p:cNvSpPr>
            <a:spLocks noGrp="1"/>
          </p:cNvSpPr>
          <p:nvPr/>
        </p:nvSpPr>
        <p:spPr>
          <a:xfrm>
            <a:off x="5499100" y="6019800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冷编译与热执行分报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采样、排队、通信全成本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-586"/>
          <p:cNvSpPr>
            <a:spLocks noGrp="1"/>
          </p:cNvSpPr>
          <p:nvPr/>
        </p:nvSpPr>
        <p:spPr>
          <a:xfrm>
            <a:off x="10236200" y="5410200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可追溯证据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-587"/>
          <p:cNvSpPr>
            <a:spLocks noGrp="1"/>
          </p:cNvSpPr>
          <p:nvPr/>
        </p:nvSpPr>
        <p:spPr>
          <a:xfrm>
            <a:off x="10236200" y="6019800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模拟 / 真机 / 估算分列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Result 与 Manifest 关联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text-588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补充能力：Studio、工作流与开发工具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589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apps/studio/ + tooling/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590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Studio 是统一工作台，Tools 以配套目录提供 CLI、预处理、导出和项目模板。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591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23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592"/>
          <p:cNvSpPr>
            <a:spLocks noGrp="1"/>
          </p:cNvSpPr>
          <p:nvPr/>
        </p:nvSpPr>
        <p:spPr>
          <a:xfrm>
            <a:off x="762000" y="2381250"/>
            <a:ext cx="2453640" cy="19335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593"/>
          <p:cNvSpPr>
            <a:spLocks noGrp="1"/>
          </p:cNvSpPr>
          <p:nvPr/>
        </p:nvSpPr>
        <p:spPr>
          <a:xfrm>
            <a:off x="933450" y="2552700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能力目录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594"/>
          <p:cNvSpPr>
            <a:spLocks noGrp="1"/>
          </p:cNvSpPr>
          <p:nvPr/>
        </p:nvSpPr>
        <p:spPr>
          <a:xfrm>
            <a:off x="933450" y="3124200"/>
            <a:ext cx="211074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包 / 插件 / 版本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输入模型与示例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595"/>
          <p:cNvSpPr>
            <a:spLocks noGrp="1"/>
          </p:cNvSpPr>
          <p:nvPr/>
        </p:nvSpPr>
        <p:spPr>
          <a:xfrm>
            <a:off x="3577590" y="2381250"/>
            <a:ext cx="2453640" cy="19335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596"/>
          <p:cNvSpPr>
            <a:spLocks noGrp="1"/>
          </p:cNvSpPr>
          <p:nvPr/>
        </p:nvSpPr>
        <p:spPr>
          <a:xfrm>
            <a:off x="3749040" y="2552700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工作流编辑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597"/>
          <p:cNvSpPr>
            <a:spLocks noGrp="1"/>
          </p:cNvSpPr>
          <p:nvPr/>
        </p:nvSpPr>
        <p:spPr>
          <a:xfrm>
            <a:off x="3749040" y="3124200"/>
            <a:ext cx="211074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 / 参数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线路与依赖图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598"/>
          <p:cNvSpPr>
            <a:spLocks noGrp="1"/>
          </p:cNvSpPr>
          <p:nvPr/>
        </p:nvSpPr>
        <p:spPr>
          <a:xfrm>
            <a:off x="6393180" y="2381250"/>
            <a:ext cx="2453640" cy="19335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599"/>
          <p:cNvSpPr>
            <a:spLocks noGrp="1"/>
          </p:cNvSpPr>
          <p:nvPr/>
        </p:nvSpPr>
        <p:spPr>
          <a:xfrm>
            <a:off x="6564630" y="2552700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任务运行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600"/>
          <p:cNvSpPr>
            <a:spLocks noGrp="1"/>
          </p:cNvSpPr>
          <p:nvPr/>
        </p:nvSpPr>
        <p:spPr>
          <a:xfrm>
            <a:off x="6564630" y="3124200"/>
            <a:ext cx="211074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 QB / QOS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状态和资源监控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601"/>
          <p:cNvSpPr>
            <a:spLocks noGrp="1"/>
          </p:cNvSpPr>
          <p:nvPr/>
        </p:nvSpPr>
        <p:spPr>
          <a:xfrm>
            <a:off x="9208770" y="2381250"/>
            <a:ext cx="2453640" cy="19335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5" name="text-602"/>
          <p:cNvSpPr>
            <a:spLocks noGrp="1"/>
          </p:cNvSpPr>
          <p:nvPr/>
        </p:nvSpPr>
        <p:spPr>
          <a:xfrm>
            <a:off x="9380220" y="2552700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结果中心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603"/>
          <p:cNvSpPr>
            <a:spLocks noGrp="1"/>
          </p:cNvSpPr>
          <p:nvPr/>
        </p:nvSpPr>
        <p:spPr>
          <a:xfrm>
            <a:off x="9380220" y="3124200"/>
            <a:ext cx="211074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 / 告警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溯源与复跑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diagram-604"/>
          <p:cNvSpPr>
            <a:spLocks noGrp="1"/>
          </p:cNvSpPr>
          <p:nvPr/>
        </p:nvSpPr>
        <p:spPr>
          <a:xfrm>
            <a:off x="12024360" y="2381250"/>
            <a:ext cx="2453640" cy="19335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8" name="text-605"/>
          <p:cNvSpPr>
            <a:spLocks noGrp="1"/>
          </p:cNvSpPr>
          <p:nvPr/>
        </p:nvSpPr>
        <p:spPr>
          <a:xfrm>
            <a:off x="12195810" y="2552700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评测与导出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606"/>
          <p:cNvSpPr>
            <a:spLocks noGrp="1"/>
          </p:cNvSpPr>
          <p:nvPr/>
        </p:nvSpPr>
        <p:spPr>
          <a:xfrm>
            <a:off x="12195810" y="3124200"/>
            <a:ext cx="211074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比较 / 可视化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实验包与报告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9" name="直接箭头连接符 48"/>
          <p:cNvCxnSpPr>
            <a:stCxn id="5" idx="3"/>
            <a:endCxn id="8" idx="1"/>
          </p:cNvCxnSpPr>
          <p:nvPr/>
        </p:nvCxnSpPr>
        <p:spPr>
          <a:xfrm>
            <a:off x="3215640" y="3348038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0" name="直接箭头连接符 49"/>
          <p:cNvCxnSpPr>
            <a:stCxn id="8" idx="3"/>
            <a:endCxn id="11" idx="1"/>
          </p:cNvCxnSpPr>
          <p:nvPr/>
        </p:nvCxnSpPr>
        <p:spPr>
          <a:xfrm>
            <a:off x="6031230" y="3348038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1" name="直接箭头连接符 50"/>
          <p:cNvCxnSpPr>
            <a:stCxn id="11" idx="3"/>
            <a:endCxn id="14" idx="1"/>
          </p:cNvCxnSpPr>
          <p:nvPr/>
        </p:nvCxnSpPr>
        <p:spPr>
          <a:xfrm>
            <a:off x="8846820" y="3348038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2" name="直接箭头连接符 51"/>
          <p:cNvCxnSpPr>
            <a:stCxn id="14" idx="3"/>
            <a:endCxn id="17" idx="1"/>
          </p:cNvCxnSpPr>
          <p:nvPr/>
        </p:nvCxnSpPr>
        <p:spPr>
          <a:xfrm>
            <a:off x="11662410" y="3348038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4" name="text-607"/>
          <p:cNvSpPr>
            <a:spLocks noGrp="1"/>
          </p:cNvSpPr>
          <p:nvPr/>
        </p:nvSpPr>
        <p:spPr>
          <a:xfrm>
            <a:off x="762000" y="545782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Studio 服务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-608"/>
          <p:cNvSpPr>
            <a:spLocks noGrp="1"/>
          </p:cNvSpPr>
          <p:nvPr/>
        </p:nvSpPr>
        <p:spPr>
          <a:xfrm>
            <a:off x="762000" y="606742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Catalog / Workflow / Execution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Result Store / API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609"/>
          <p:cNvSpPr>
            <a:spLocks noGrp="1"/>
          </p:cNvSpPr>
          <p:nvPr/>
        </p:nvSpPr>
        <p:spPr>
          <a:xfrm>
            <a:off x="5499100" y="545782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开发工具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-610"/>
          <p:cNvSpPr>
            <a:spLocks noGrp="1"/>
          </p:cNvSpPr>
          <p:nvPr/>
        </p:nvSpPr>
        <p:spPr>
          <a:xfrm>
            <a:off x="5499100" y="606742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CLI / doctor / init / export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数据预处理和项目模板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-611"/>
          <p:cNvSpPr>
            <a:spLocks noGrp="1"/>
          </p:cNvSpPr>
          <p:nvPr/>
        </p:nvSpPr>
        <p:spPr>
          <a:xfrm>
            <a:off x="10236200" y="545782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贯穿式治理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-612"/>
          <p:cNvSpPr>
            <a:spLocks noGrp="1"/>
          </p:cNvSpPr>
          <p:nvPr/>
        </p:nvSpPr>
        <p:spPr>
          <a:xfrm>
            <a:off x="10236200" y="606742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Warnings / Provenance / Logs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版本与运行模式可见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text-613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补充能力：动力学、实验与误差缓解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614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Simulator / Core / QOS / Science 协作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615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补齐既有 Dynamics、Experiments 与 Mitiq 能力入口，组成校准和质量反馈闭环。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616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24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617"/>
          <p:cNvSpPr>
            <a:spLocks noGrp="1"/>
          </p:cNvSpPr>
          <p:nvPr/>
        </p:nvSpPr>
        <p:spPr>
          <a:xfrm>
            <a:off x="762000" y="2409825"/>
            <a:ext cx="2453640" cy="18954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618"/>
          <p:cNvSpPr>
            <a:spLocks noGrp="1"/>
          </p:cNvSpPr>
          <p:nvPr/>
        </p:nvSpPr>
        <p:spPr>
          <a:xfrm>
            <a:off x="933450" y="25812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实验与表征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619"/>
          <p:cNvSpPr>
            <a:spLocks noGrp="1"/>
          </p:cNvSpPr>
          <p:nvPr/>
        </p:nvSpPr>
        <p:spPr>
          <a:xfrm>
            <a:off x="933450" y="3152775"/>
            <a:ext cx="211074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Rabi / T1 / Ramsey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实验与拟合接口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620"/>
          <p:cNvSpPr>
            <a:spLocks noGrp="1"/>
          </p:cNvSpPr>
          <p:nvPr/>
        </p:nvSpPr>
        <p:spPr>
          <a:xfrm>
            <a:off x="3577590" y="2409825"/>
            <a:ext cx="2453640" cy="18954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621"/>
          <p:cNvSpPr>
            <a:spLocks noGrp="1"/>
          </p:cNvSpPr>
          <p:nvPr/>
        </p:nvSpPr>
        <p:spPr>
          <a:xfrm>
            <a:off x="3749040" y="25812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校准快照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622"/>
          <p:cNvSpPr>
            <a:spLocks noGrp="1"/>
          </p:cNvSpPr>
          <p:nvPr/>
        </p:nvSpPr>
        <p:spPr>
          <a:xfrm>
            <a:off x="3749040" y="3152775"/>
            <a:ext cx="211074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CalSet / 时间戳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误差与适用范围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623"/>
          <p:cNvSpPr>
            <a:spLocks noGrp="1"/>
          </p:cNvSpPr>
          <p:nvPr/>
        </p:nvSpPr>
        <p:spPr>
          <a:xfrm>
            <a:off x="6393180" y="2409825"/>
            <a:ext cx="2453640" cy="18954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624"/>
          <p:cNvSpPr>
            <a:spLocks noGrp="1"/>
          </p:cNvSpPr>
          <p:nvPr/>
        </p:nvSpPr>
        <p:spPr>
          <a:xfrm>
            <a:off x="6564630" y="25812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动力学与噪声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625"/>
          <p:cNvSpPr>
            <a:spLocks noGrp="1"/>
          </p:cNvSpPr>
          <p:nvPr/>
        </p:nvSpPr>
        <p:spPr>
          <a:xfrm>
            <a:off x="6564630" y="3152775"/>
            <a:ext cx="211074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Hamiltonian / 信号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通道 / 时间演化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626"/>
          <p:cNvSpPr>
            <a:spLocks noGrp="1"/>
          </p:cNvSpPr>
          <p:nvPr/>
        </p:nvSpPr>
        <p:spPr>
          <a:xfrm>
            <a:off x="9208770" y="2409825"/>
            <a:ext cx="2453640" cy="18954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5" name="text-627"/>
          <p:cNvSpPr>
            <a:spLocks noGrp="1"/>
          </p:cNvSpPr>
          <p:nvPr/>
        </p:nvSpPr>
        <p:spPr>
          <a:xfrm>
            <a:off x="9380220" y="25812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编译与执行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628"/>
          <p:cNvSpPr>
            <a:spLocks noGrp="1"/>
          </p:cNvSpPr>
          <p:nvPr/>
        </p:nvSpPr>
        <p:spPr>
          <a:xfrm>
            <a:off x="9380220" y="3152775"/>
            <a:ext cx="211074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校准感知编译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批次与 shots 预算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diagram-629"/>
          <p:cNvSpPr>
            <a:spLocks noGrp="1"/>
          </p:cNvSpPr>
          <p:nvPr/>
        </p:nvSpPr>
        <p:spPr>
          <a:xfrm>
            <a:off x="12024360" y="2409825"/>
            <a:ext cx="2453640" cy="18954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8" name="text-630"/>
          <p:cNvSpPr>
            <a:spLocks noGrp="1"/>
          </p:cNvSpPr>
          <p:nvPr/>
        </p:nvSpPr>
        <p:spPr>
          <a:xfrm>
            <a:off x="12195810" y="25812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缓解与评测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631"/>
          <p:cNvSpPr>
            <a:spLocks noGrp="1"/>
          </p:cNvSpPr>
          <p:nvPr/>
        </p:nvSpPr>
        <p:spPr>
          <a:xfrm>
            <a:off x="12195810" y="3152775"/>
            <a:ext cx="211074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ZNE / 读出校正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原始与缓解结果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1" name="直接箭头连接符 50"/>
          <p:cNvCxnSpPr>
            <a:stCxn id="5" idx="3"/>
            <a:endCxn id="8" idx="1"/>
          </p:cNvCxnSpPr>
          <p:nvPr/>
        </p:nvCxnSpPr>
        <p:spPr>
          <a:xfrm>
            <a:off x="3215640" y="3357563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2" name="直接箭头连接符 51"/>
          <p:cNvCxnSpPr>
            <a:stCxn id="8" idx="3"/>
            <a:endCxn id="11" idx="1"/>
          </p:cNvCxnSpPr>
          <p:nvPr/>
        </p:nvCxnSpPr>
        <p:spPr>
          <a:xfrm>
            <a:off x="6031230" y="3357563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3" name="直接箭头连接符 52"/>
          <p:cNvCxnSpPr>
            <a:stCxn id="11" idx="3"/>
            <a:endCxn id="14" idx="1"/>
          </p:cNvCxnSpPr>
          <p:nvPr/>
        </p:nvCxnSpPr>
        <p:spPr>
          <a:xfrm>
            <a:off x="8846820" y="3357563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4" name="直接箭头连接符 53"/>
          <p:cNvCxnSpPr>
            <a:stCxn id="14" idx="3"/>
            <a:endCxn id="17" idx="1"/>
          </p:cNvCxnSpPr>
          <p:nvPr/>
        </p:nvCxnSpPr>
        <p:spPr>
          <a:xfrm>
            <a:off x="11662410" y="3357563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5" name="肘形连接符 54"/>
          <p:cNvCxnSpPr>
            <a:stCxn id="17" idx="2"/>
            <a:endCxn id="5" idx="2"/>
          </p:cNvCxnSpPr>
          <p:nvPr/>
        </p:nvCxnSpPr>
        <p:spPr>
          <a:xfrm flipH="1">
            <a:off x="1988820" y="4305300"/>
            <a:ext cx="11262360" cy="228600"/>
          </a:xfrm>
          <a:prstGeom prst="bentConnector4">
            <a:avLst/>
          </a:prstGeom>
          <a:ln w="22860">
            <a:solidFill>
              <a:srgbClr val="205FBC"/>
            </a:solidFill>
            <a:prstDash val="dash"/>
            <a:tailEnd type="triangle" w="sm" len="sm"/>
          </a:ln>
        </p:spPr>
      </p:cxnSp>
      <p:sp>
        <p:nvSpPr>
          <p:cNvPr id="25" name="text-632"/>
          <p:cNvSpPr>
            <a:spLocks noGrp="1"/>
          </p:cNvSpPr>
          <p:nvPr/>
        </p:nvSpPr>
        <p:spPr>
          <a:xfrm>
            <a:off x="4619625" y="4572000"/>
            <a:ext cx="6000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205FB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205FB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评测反馈与重新校准</a:t>
            </a:r>
            <a:endParaRPr sz="1800" b="0">
              <a:solidFill>
                <a:srgbClr val="205FB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633"/>
          <p:cNvSpPr>
            <a:spLocks noGrp="1"/>
          </p:cNvSpPr>
          <p:nvPr/>
        </p:nvSpPr>
        <p:spPr>
          <a:xfrm>
            <a:off x="762000" y="559117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OS 负责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-634"/>
          <p:cNvSpPr>
            <a:spLocks noGrp="1"/>
          </p:cNvSpPr>
          <p:nvPr/>
        </p:nvSpPr>
        <p:spPr>
          <a:xfrm>
            <a:off x="762000" y="620077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校准记录、有效期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设备事件与预算编排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-635"/>
          <p:cNvSpPr>
            <a:spLocks noGrp="1"/>
          </p:cNvSpPr>
          <p:nvPr/>
        </p:nvSpPr>
        <p:spPr>
          <a:xfrm>
            <a:off x="5499100" y="559117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Core / Simulator 负责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-636"/>
          <p:cNvSpPr>
            <a:spLocks noGrp="1"/>
          </p:cNvSpPr>
          <p:nvPr/>
        </p:nvSpPr>
        <p:spPr>
          <a:xfrm>
            <a:off x="5499100" y="620077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变换策略、噪声与执行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保留原始和缓解后结果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text-637"/>
          <p:cNvSpPr>
            <a:spLocks noGrp="1"/>
          </p:cNvSpPr>
          <p:nvPr/>
        </p:nvSpPr>
        <p:spPr>
          <a:xfrm>
            <a:off x="10236200" y="559117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Benchmark 负责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text-638"/>
          <p:cNvSpPr>
            <a:spLocks noGrp="1"/>
          </p:cNvSpPr>
          <p:nvPr/>
        </p:nvSpPr>
        <p:spPr>
          <a:xfrm>
            <a:off x="10236200" y="620077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误差、置信区间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额外线路与 shots 成本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text-639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补充能力：统一契约与结果溯源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640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contracts/ + Core schema + 全层 Manifest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641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程序、编译、作业和结果通过版本与标识关联，形成可追踪的执行记录。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642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25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643"/>
          <p:cNvSpPr>
            <a:spLocks noGrp="1"/>
          </p:cNvSpPr>
          <p:nvPr/>
        </p:nvSpPr>
        <p:spPr>
          <a:xfrm>
            <a:off x="762000" y="2409825"/>
            <a:ext cx="2453640" cy="20002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644"/>
          <p:cNvSpPr>
            <a:spLocks noGrp="1"/>
          </p:cNvSpPr>
          <p:nvPr/>
        </p:nvSpPr>
        <p:spPr>
          <a:xfrm>
            <a:off x="933450" y="25812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Program / Problem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645"/>
          <p:cNvSpPr>
            <a:spLocks noGrp="1"/>
          </p:cNvSpPr>
          <p:nvPr/>
        </p:nvSpPr>
        <p:spPr>
          <a:xfrm>
            <a:off x="933450" y="3152775"/>
            <a:ext cx="211074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线路 / 目标 / 参数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数据、约束与单位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646"/>
          <p:cNvSpPr>
            <a:spLocks noGrp="1"/>
          </p:cNvSpPr>
          <p:nvPr/>
        </p:nvSpPr>
        <p:spPr>
          <a:xfrm>
            <a:off x="3577590" y="2409825"/>
            <a:ext cx="2453640" cy="20002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647"/>
          <p:cNvSpPr>
            <a:spLocks noGrp="1"/>
          </p:cNvSpPr>
          <p:nvPr/>
        </p:nvSpPr>
        <p:spPr>
          <a:xfrm>
            <a:off x="3749040" y="25812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CompileArtifact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648"/>
          <p:cNvSpPr>
            <a:spLocks noGrp="1"/>
          </p:cNvSpPr>
          <p:nvPr/>
        </p:nvSpPr>
        <p:spPr>
          <a:xfrm>
            <a:off x="3749040" y="3152775"/>
            <a:ext cx="211074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IR / pass / layout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设备与校准绑定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649"/>
          <p:cNvSpPr>
            <a:spLocks noGrp="1"/>
          </p:cNvSpPr>
          <p:nvPr/>
        </p:nvSpPr>
        <p:spPr>
          <a:xfrm>
            <a:off x="6393180" y="2409825"/>
            <a:ext cx="2453640" cy="20002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650"/>
          <p:cNvSpPr>
            <a:spLocks noGrp="1"/>
          </p:cNvSpPr>
          <p:nvPr/>
        </p:nvSpPr>
        <p:spPr>
          <a:xfrm>
            <a:off x="6564630" y="25812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JobSpec / Event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651"/>
          <p:cNvSpPr>
            <a:spLocks noGrp="1"/>
          </p:cNvSpPr>
          <p:nvPr/>
        </p:nvSpPr>
        <p:spPr>
          <a:xfrm>
            <a:off x="6564630" y="3152775"/>
            <a:ext cx="211074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幂等键 / 状态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预算、重试与批次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652"/>
          <p:cNvSpPr>
            <a:spLocks noGrp="1"/>
          </p:cNvSpPr>
          <p:nvPr/>
        </p:nvSpPr>
        <p:spPr>
          <a:xfrm>
            <a:off x="9208770" y="2409825"/>
            <a:ext cx="2453640" cy="20002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5" name="text-653"/>
          <p:cNvSpPr>
            <a:spLocks noGrp="1"/>
          </p:cNvSpPr>
          <p:nvPr/>
        </p:nvSpPr>
        <p:spPr>
          <a:xfrm>
            <a:off x="9380220" y="25812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Result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654"/>
          <p:cNvSpPr>
            <a:spLocks noGrp="1"/>
          </p:cNvSpPr>
          <p:nvPr/>
        </p:nvSpPr>
        <p:spPr>
          <a:xfrm>
            <a:off x="9380220" y="3152775"/>
            <a:ext cx="211074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counts / 期望 / 梯度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误差与运行模式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diagram-655"/>
          <p:cNvSpPr>
            <a:spLocks noGrp="1"/>
          </p:cNvSpPr>
          <p:nvPr/>
        </p:nvSpPr>
        <p:spPr>
          <a:xfrm>
            <a:off x="12024360" y="2409825"/>
            <a:ext cx="2453640" cy="20002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8" name="text-656"/>
          <p:cNvSpPr>
            <a:spLocks noGrp="1"/>
          </p:cNvSpPr>
          <p:nvPr/>
        </p:nvSpPr>
        <p:spPr>
          <a:xfrm>
            <a:off x="12195810" y="2581275"/>
            <a:ext cx="21107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Manifest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657"/>
          <p:cNvSpPr>
            <a:spLocks noGrp="1"/>
          </p:cNvSpPr>
          <p:nvPr/>
        </p:nvSpPr>
        <p:spPr>
          <a:xfrm>
            <a:off x="12195810" y="3152775"/>
            <a:ext cx="211074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制品哈希 / 依赖锁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输入与全链路版本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9" name="直接箭头连接符 48"/>
          <p:cNvCxnSpPr>
            <a:stCxn id="5" idx="3"/>
            <a:endCxn id="8" idx="1"/>
          </p:cNvCxnSpPr>
          <p:nvPr/>
        </p:nvCxnSpPr>
        <p:spPr>
          <a:xfrm>
            <a:off x="3215640" y="3409950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0" name="直接箭头连接符 49"/>
          <p:cNvCxnSpPr>
            <a:stCxn id="8" idx="3"/>
            <a:endCxn id="11" idx="1"/>
          </p:cNvCxnSpPr>
          <p:nvPr/>
        </p:nvCxnSpPr>
        <p:spPr>
          <a:xfrm>
            <a:off x="6031230" y="3409950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1" name="直接箭头连接符 50"/>
          <p:cNvCxnSpPr>
            <a:stCxn id="11" idx="3"/>
            <a:endCxn id="14" idx="1"/>
          </p:cNvCxnSpPr>
          <p:nvPr/>
        </p:nvCxnSpPr>
        <p:spPr>
          <a:xfrm>
            <a:off x="8846820" y="3409950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2" name="直接箭头连接符 51"/>
          <p:cNvCxnSpPr>
            <a:stCxn id="14" idx="3"/>
            <a:endCxn id="17" idx="1"/>
          </p:cNvCxnSpPr>
          <p:nvPr/>
        </p:nvCxnSpPr>
        <p:spPr>
          <a:xfrm>
            <a:off x="11662410" y="3409950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4" name="text-658"/>
          <p:cNvSpPr>
            <a:spLocks noGrp="1"/>
          </p:cNvSpPr>
          <p:nvPr/>
        </p:nvSpPr>
        <p:spPr>
          <a:xfrm>
            <a:off x="762000" y="549592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接口规范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-659"/>
          <p:cNvSpPr>
            <a:spLocks noGrp="1"/>
          </p:cNvSpPr>
          <p:nvPr/>
        </p:nvSpPr>
        <p:spPr>
          <a:xfrm>
            <a:off x="762000" y="610552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JSON Schema / OpenAPI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SDK Protocol 与转换器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660"/>
          <p:cNvSpPr>
            <a:spLocks noGrp="1"/>
          </p:cNvSpPr>
          <p:nvPr/>
        </p:nvSpPr>
        <p:spPr>
          <a:xfrm>
            <a:off x="5499100" y="549592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可复现实验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-661"/>
          <p:cNvSpPr>
            <a:spLocks noGrp="1"/>
          </p:cNvSpPr>
          <p:nvPr/>
        </p:nvSpPr>
        <p:spPr>
          <a:xfrm>
            <a:off x="5499100" y="610552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参数、seed、校准与版本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经典优化器检查点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-662"/>
          <p:cNvSpPr>
            <a:spLocks noGrp="1"/>
          </p:cNvSpPr>
          <p:nvPr/>
        </p:nvSpPr>
        <p:spPr>
          <a:xfrm>
            <a:off x="10236200" y="5495925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项目治理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-663"/>
          <p:cNvSpPr>
            <a:spLocks noGrp="1"/>
          </p:cNvSpPr>
          <p:nvPr/>
        </p:nvSpPr>
        <p:spPr>
          <a:xfrm>
            <a:off x="10236200" y="6105525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 / 许可 / NOTICE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凭据与运行制品分离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text-664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目标目录：十个主包与配套扩展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665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保持主分包命名，补充旧项目的功能归属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666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配套目录承载应用、插件、协议、工具与工程资源；未来可按需要独立发行。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667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26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668"/>
          <p:cNvSpPr>
            <a:spLocks noGrp="1"/>
          </p:cNvSpPr>
          <p:nvPr/>
        </p:nvSpPr>
        <p:spPr>
          <a:xfrm>
            <a:off x="762000" y="2057400"/>
            <a:ext cx="4381500" cy="714375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669"/>
          <p:cNvSpPr>
            <a:spLocks noGrp="1"/>
          </p:cNvSpPr>
          <p:nvPr/>
        </p:nvSpPr>
        <p:spPr>
          <a:xfrm>
            <a:off x="933450" y="2228850"/>
            <a:ext cx="4038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Quantum-Bridge/</a:t>
            </a:r>
            <a:endParaRPr sz="23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670"/>
          <p:cNvSpPr>
            <a:spLocks noGrp="1"/>
          </p:cNvSpPr>
          <p:nvPr/>
        </p:nvSpPr>
        <p:spPr>
          <a:xfrm>
            <a:off x="952500" y="3086100"/>
            <a:ext cx="6048375" cy="411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├── quantum_bridge_core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├── quantum_bridge_os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├── quantum_bridge_simulator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├── quantum_bridge_ml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├── quantum_bridge_science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├── quantum_bridge_finance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├── quantum_bridge_industry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├── quantum_bridge_crypto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├── quantum_bridge_visual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└── quantum_bridge_benchmark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671"/>
          <p:cNvSpPr>
            <a:spLocks noGrp="1"/>
          </p:cNvSpPr>
          <p:nvPr/>
        </p:nvSpPr>
        <p:spPr>
          <a:xfrm>
            <a:off x="8191500" y="2057400"/>
            <a:ext cx="6286500" cy="714375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9" name="text-672"/>
          <p:cNvSpPr>
            <a:spLocks noGrp="1"/>
          </p:cNvSpPr>
          <p:nvPr/>
        </p:nvSpPr>
        <p:spPr>
          <a:xfrm>
            <a:off x="8362950" y="2228850"/>
            <a:ext cx="5943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配套目录</a:t>
            </a:r>
            <a:endParaRPr sz="23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0" name="直接箭头连接符 29"/>
          <p:cNvCxnSpPr>
            <a:stCxn id="5" idx="3"/>
            <a:endCxn id="8" idx="1"/>
          </p:cNvCxnSpPr>
          <p:nvPr/>
        </p:nvCxnSpPr>
        <p:spPr>
          <a:xfrm>
            <a:off x="5143500" y="2414588"/>
            <a:ext cx="304800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1" name="text-673"/>
          <p:cNvSpPr>
            <a:spLocks noGrp="1"/>
          </p:cNvSpPr>
          <p:nvPr/>
        </p:nvSpPr>
        <p:spPr>
          <a:xfrm>
            <a:off x="8191500" y="3152775"/>
            <a:ext cx="628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apps/studio/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-674"/>
          <p:cNvSpPr>
            <a:spLocks noGrp="1"/>
          </p:cNvSpPr>
          <p:nvPr/>
        </p:nvSpPr>
        <p:spPr>
          <a:xfrm>
            <a:off x="8191500" y="3562350"/>
            <a:ext cx="6286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工作台与本地 / 平台服务</a:t>
            </a:r>
            <a:endParaRPr sz="1725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675"/>
          <p:cNvSpPr>
            <a:spLocks noGrp="1"/>
          </p:cNvSpPr>
          <p:nvPr/>
        </p:nvSpPr>
        <p:spPr>
          <a:xfrm>
            <a:off x="8191500" y="3962400"/>
            <a:ext cx="628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plugins/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676"/>
          <p:cNvSpPr>
            <a:spLocks noGrp="1"/>
          </p:cNvSpPr>
          <p:nvPr/>
        </p:nvSpPr>
        <p:spPr>
          <a:xfrm>
            <a:off x="8191500" y="4371975"/>
            <a:ext cx="6286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量子框架、厂商、MQT、TorchQuantum</a:t>
            </a:r>
            <a:endParaRPr sz="1725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-677"/>
          <p:cNvSpPr>
            <a:spLocks noGrp="1"/>
          </p:cNvSpPr>
          <p:nvPr/>
        </p:nvSpPr>
        <p:spPr>
          <a:xfrm>
            <a:off x="8191500" y="4772025"/>
            <a:ext cx="628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contracts/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678"/>
          <p:cNvSpPr>
            <a:spLocks noGrp="1"/>
          </p:cNvSpPr>
          <p:nvPr/>
        </p:nvSpPr>
        <p:spPr>
          <a:xfrm>
            <a:off x="8191500" y="5181600"/>
            <a:ext cx="6286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schema、API、能力与溯源合同</a:t>
            </a:r>
            <a:endParaRPr sz="1725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-679"/>
          <p:cNvSpPr>
            <a:spLocks noGrp="1"/>
          </p:cNvSpPr>
          <p:nvPr/>
        </p:nvSpPr>
        <p:spPr>
          <a:xfrm>
            <a:off x="8191500" y="5581650"/>
            <a:ext cx="628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tooling/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680"/>
          <p:cNvSpPr>
            <a:spLocks noGrp="1"/>
          </p:cNvSpPr>
          <p:nvPr/>
        </p:nvSpPr>
        <p:spPr>
          <a:xfrm>
            <a:off x="8191500" y="5991225"/>
            <a:ext cx="6286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CLI、预处理、导出、模板与日志</a:t>
            </a:r>
            <a:endParaRPr sz="1725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681"/>
          <p:cNvSpPr>
            <a:spLocks noGrp="1"/>
          </p:cNvSpPr>
          <p:nvPr/>
        </p:nvSpPr>
        <p:spPr>
          <a:xfrm>
            <a:off x="8191500" y="6391275"/>
            <a:ext cx="628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examples/  docs/  tests/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-682"/>
          <p:cNvSpPr>
            <a:spLocks noGrp="1"/>
          </p:cNvSpPr>
          <p:nvPr/>
        </p:nvSpPr>
        <p:spPr>
          <a:xfrm>
            <a:off x="8191500" y="6800850"/>
            <a:ext cx="6286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领域用例、文档、回归和来源记录</a:t>
            </a:r>
            <a:endParaRPr sz="1725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683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旧项目补充能力的明确归属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684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运行、协作与公共服务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685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按功能归位，避免把每一个旧目录都扩展为新的主分包。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686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27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762000" y="2238375"/>
          <a:ext cx="13716000" cy="5067300"/>
        </p:xfrm>
        <a:graphic>
          <a:graphicData uri="http://schemas.openxmlformats.org/drawingml/2006/table">
            <a:tbl>
              <a:tblPr/>
              <a:tblGrid>
                <a:gridCol w="4619625"/>
                <a:gridCol w="4381500"/>
                <a:gridCol w="471487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旧项目已有内容</a:t>
                      </a:r>
                      <a:endParaRPr sz="1800" b="1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补充到的位置</a:t>
                      </a:r>
                      <a:endParaRPr sz="1800" b="1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在生态中的作用</a:t>
                      </a:r>
                      <a:endParaRPr sz="1800" b="1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0F5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Router / SLA / 决策日志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quantum_bridge_os.router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后端推荐、资源评估与调度解释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QOS-UQCI / Quafu 作业协议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OS provider + plugins/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设备、任务、校准和结果适配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Studio / Workflow / REST-like API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apps/studio/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目录、编排、运行和结果工作台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ResultStore / Export / Provenance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OS 服务 + contracts/ + tooling/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结果归档、复跑与实验导出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CLI / 模板 / 脚本 / 日志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tooling/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开发者工具与辅助计算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License / NOTICE / 来源台账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docs/ + 发布流水线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代码与依赖归属、版本可追溯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687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旧项目生态扩展的模块化保留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688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算法、仿真、实验与兼容生态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689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已有范围包括代码子集、适配入口及目录级规划，迁移时分别标注成熟度。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690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28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762000" y="2238375"/>
          <a:ext cx="13716000" cy="5067300"/>
        </p:xfrm>
        <a:graphic>
          <a:graphicData uri="http://schemas.openxmlformats.org/drawingml/2006/table">
            <a:tbl>
              <a:tblPr/>
              <a:tblGrid>
                <a:gridCol w="4619625"/>
                <a:gridCol w="4381500"/>
                <a:gridCol w="471487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补充资产</a:t>
                      </a:r>
                      <a:endParaRPr sz="1800" b="1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归属 / 接口</a:t>
                      </a:r>
                      <a:endParaRPr sz="1800" b="1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扩展价值</a:t>
                      </a:r>
                      <a:endParaRPr sz="1800" b="1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0F5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Qiskit Algorithms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Core.algorithms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VQE、QAOA、Grover 等共享算法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Dynamics / Experiments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Simulator + Science + QOS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动力学、表征、校准与实验模型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Mitiq / readout / ZNE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Core.transforms + OS 执行策略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误差缓解、采样与结果质量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PennyLane–Qiskit Bridge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plugins/compat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线路、算子和结果双向转换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MQT / TorchQuantum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Compiler / Simulator / ML 插件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路由、模拟与量子层扩展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Benchpress / Metal / Addons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Benchmark / 可选研究插件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基准复用、芯片设计和研究入口</a:t>
                      </a:r>
                      <a:endParaRPr sz="1800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text-691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包依赖与部署职责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692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逻辑层次与代码依赖分开管理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693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箭头表示依赖或调用。Core 不导入 OS、Simulator、ML、行业包或配套工具。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694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29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695"/>
          <p:cNvSpPr>
            <a:spLocks noGrp="1"/>
          </p:cNvSpPr>
          <p:nvPr/>
        </p:nvSpPr>
        <p:spPr>
          <a:xfrm>
            <a:off x="762000" y="2133600"/>
            <a:ext cx="8620125" cy="12763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696"/>
          <p:cNvSpPr>
            <a:spLocks noGrp="1"/>
          </p:cNvSpPr>
          <p:nvPr/>
        </p:nvSpPr>
        <p:spPr>
          <a:xfrm>
            <a:off x="933450" y="2305050"/>
            <a:ext cx="82772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四个行业包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697"/>
          <p:cNvSpPr>
            <a:spLocks noGrp="1"/>
          </p:cNvSpPr>
          <p:nvPr/>
        </p:nvSpPr>
        <p:spPr>
          <a:xfrm>
            <a:off x="933450" y="2876550"/>
            <a:ext cx="82772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Science / Finance / Industry / Crypto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698"/>
          <p:cNvSpPr>
            <a:spLocks noGrp="1"/>
          </p:cNvSpPr>
          <p:nvPr/>
        </p:nvSpPr>
        <p:spPr>
          <a:xfrm>
            <a:off x="10239375" y="2133600"/>
            <a:ext cx="4238625" cy="12763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699"/>
          <p:cNvSpPr>
            <a:spLocks noGrp="1"/>
          </p:cNvSpPr>
          <p:nvPr/>
        </p:nvSpPr>
        <p:spPr>
          <a:xfrm>
            <a:off x="10410825" y="2305050"/>
            <a:ext cx="3895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Visual / Benchmark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700"/>
          <p:cNvSpPr>
            <a:spLocks noGrp="1"/>
          </p:cNvSpPr>
          <p:nvPr/>
        </p:nvSpPr>
        <p:spPr>
          <a:xfrm>
            <a:off x="10410825" y="2876550"/>
            <a:ext cx="3895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消费公共 schema 和运行结果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701"/>
          <p:cNvSpPr>
            <a:spLocks noGrp="1"/>
          </p:cNvSpPr>
          <p:nvPr/>
        </p:nvSpPr>
        <p:spPr>
          <a:xfrm>
            <a:off x="762000" y="4419600"/>
            <a:ext cx="4000500" cy="13525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702"/>
          <p:cNvSpPr>
            <a:spLocks noGrp="1"/>
          </p:cNvSpPr>
          <p:nvPr/>
        </p:nvSpPr>
        <p:spPr>
          <a:xfrm>
            <a:off x="933450" y="4591050"/>
            <a:ext cx="365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ML</a:t>
            </a:r>
            <a:endParaRPr sz="23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703"/>
          <p:cNvSpPr>
            <a:spLocks noGrp="1"/>
          </p:cNvSpPr>
          <p:nvPr/>
        </p:nvSpPr>
        <p:spPr>
          <a:xfrm>
            <a:off x="933450" y="5162550"/>
            <a:ext cx="36576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 / 训练 / Connector</a:t>
            </a:r>
            <a:endParaRPr sz="195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704"/>
          <p:cNvSpPr>
            <a:spLocks noGrp="1"/>
          </p:cNvSpPr>
          <p:nvPr/>
        </p:nvSpPr>
        <p:spPr>
          <a:xfrm>
            <a:off x="5619750" y="4419600"/>
            <a:ext cx="4000500" cy="13525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5" name="text-705"/>
          <p:cNvSpPr>
            <a:spLocks noGrp="1"/>
          </p:cNvSpPr>
          <p:nvPr/>
        </p:nvSpPr>
        <p:spPr>
          <a:xfrm>
            <a:off x="5791200" y="4591050"/>
            <a:ext cx="365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OS</a:t>
            </a:r>
            <a:endParaRPr sz="23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706"/>
          <p:cNvSpPr>
            <a:spLocks noGrp="1"/>
          </p:cNvSpPr>
          <p:nvPr/>
        </p:nvSpPr>
        <p:spPr>
          <a:xfrm>
            <a:off x="5791200" y="5162550"/>
            <a:ext cx="36576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Client / Router / Provider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diagram-707"/>
          <p:cNvSpPr>
            <a:spLocks noGrp="1"/>
          </p:cNvSpPr>
          <p:nvPr/>
        </p:nvSpPr>
        <p:spPr>
          <a:xfrm>
            <a:off x="10477500" y="4419600"/>
            <a:ext cx="4000500" cy="135255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8" name="text-708"/>
          <p:cNvSpPr>
            <a:spLocks noGrp="1"/>
          </p:cNvSpPr>
          <p:nvPr/>
        </p:nvSpPr>
        <p:spPr>
          <a:xfrm>
            <a:off x="10648950" y="4591050"/>
            <a:ext cx="365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Simulator</a:t>
            </a:r>
            <a:endParaRPr sz="23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709"/>
          <p:cNvSpPr>
            <a:spLocks noGrp="1"/>
          </p:cNvSpPr>
          <p:nvPr/>
        </p:nvSpPr>
        <p:spPr>
          <a:xfrm>
            <a:off x="10648950" y="5162550"/>
            <a:ext cx="36576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模拟器内核与执行插件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diagram-710"/>
          <p:cNvSpPr>
            <a:spLocks noGrp="1"/>
          </p:cNvSpPr>
          <p:nvPr/>
        </p:nvSpPr>
        <p:spPr>
          <a:xfrm>
            <a:off x="2857500" y="6553200"/>
            <a:ext cx="9525000" cy="904875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21" name="text-711"/>
          <p:cNvSpPr>
            <a:spLocks noGrp="1"/>
          </p:cNvSpPr>
          <p:nvPr/>
        </p:nvSpPr>
        <p:spPr>
          <a:xfrm>
            <a:off x="3028950" y="6648450"/>
            <a:ext cx="91821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Core：公共类型、协议、建模与编译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712"/>
          <p:cNvSpPr>
            <a:spLocks noGrp="1"/>
          </p:cNvSpPr>
          <p:nvPr/>
        </p:nvSpPr>
        <p:spPr>
          <a:xfrm>
            <a:off x="3028950" y="7105650"/>
            <a:ext cx="918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可单独安装的稳定内核，其他模块通过接口扩展</a:t>
            </a:r>
            <a:endParaRPr sz="17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2" name="肘形连接符 51"/>
          <p:cNvCxnSpPr>
            <a:stCxn id="5" idx="2"/>
            <a:endCxn id="11" idx="0"/>
          </p:cNvCxnSpPr>
          <p:nvPr/>
        </p:nvCxnSpPr>
        <p:spPr>
          <a:xfrm flipH="1">
            <a:off x="2762250" y="3409950"/>
            <a:ext cx="2309813" cy="100965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dash"/>
            <a:tailEnd type="triangle" w="sm" len="sm"/>
          </a:ln>
        </p:spPr>
      </p:cxnSp>
      <p:cxnSp>
        <p:nvCxnSpPr>
          <p:cNvPr id="53" name="肘形连接符 52"/>
          <p:cNvCxnSpPr>
            <a:stCxn id="5" idx="2"/>
            <a:endCxn id="14" idx="0"/>
          </p:cNvCxnSpPr>
          <p:nvPr/>
        </p:nvCxnSpPr>
        <p:spPr>
          <a:xfrm>
            <a:off x="5072063" y="3409950"/>
            <a:ext cx="2547938" cy="100965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dash"/>
            <a:tailEnd type="triangle" w="sm" len="sm"/>
          </a:ln>
        </p:spPr>
      </p:cxnSp>
      <p:cxnSp>
        <p:nvCxnSpPr>
          <p:cNvPr id="54" name="肘形连接符 53"/>
          <p:cNvCxnSpPr>
            <a:stCxn id="8" idx="2"/>
            <a:endCxn id="17" idx="0"/>
          </p:cNvCxnSpPr>
          <p:nvPr/>
        </p:nvCxnSpPr>
        <p:spPr>
          <a:xfrm>
            <a:off x="12358688" y="3409950"/>
            <a:ext cx="119063" cy="100965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dash"/>
            <a:tailEnd type="triangle" w="sm" len="sm"/>
          </a:ln>
        </p:spPr>
      </p:cxnSp>
      <p:cxnSp>
        <p:nvCxnSpPr>
          <p:cNvPr id="55" name="肘形连接符 54"/>
          <p:cNvCxnSpPr>
            <a:stCxn id="11" idx="2"/>
            <a:endCxn id="20" idx="0"/>
          </p:cNvCxnSpPr>
          <p:nvPr/>
        </p:nvCxnSpPr>
        <p:spPr>
          <a:xfrm>
            <a:off x="2762250" y="5772150"/>
            <a:ext cx="4857750" cy="78105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6" name="直接箭头连接符 55"/>
          <p:cNvCxnSpPr>
            <a:stCxn id="14" idx="2"/>
            <a:endCxn id="20" idx="0"/>
          </p:cNvCxnSpPr>
          <p:nvPr/>
        </p:nvCxnSpPr>
        <p:spPr>
          <a:xfrm>
            <a:off x="7620000" y="5772150"/>
            <a:ext cx="0" cy="78105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7" name="肘形连接符 56"/>
          <p:cNvCxnSpPr>
            <a:stCxn id="17" idx="2"/>
            <a:endCxn id="20" idx="0"/>
          </p:cNvCxnSpPr>
          <p:nvPr/>
        </p:nvCxnSpPr>
        <p:spPr>
          <a:xfrm flipH="1">
            <a:off x="7620000" y="5772150"/>
            <a:ext cx="4857750" cy="781050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9" name="text-713"/>
          <p:cNvSpPr>
            <a:spLocks noGrp="1"/>
          </p:cNvSpPr>
          <p:nvPr/>
        </p:nvSpPr>
        <p:spPr>
          <a:xfrm>
            <a:off x="762000" y="3619500"/>
            <a:ext cx="809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实线为公共 Core 依赖，虚线为按需调用</a:t>
            </a:r>
            <a:endParaRPr sz="1725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text-714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开发路线：基座、行业、生态工具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715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对应十个主分包的三级优先级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716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最低测试、文档和诊断从首期开始，高性能与复杂模型按专题持续扩展。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717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718"/>
          <p:cNvSpPr>
            <a:spLocks noGrp="1"/>
          </p:cNvSpPr>
          <p:nvPr/>
        </p:nvSpPr>
        <p:spPr>
          <a:xfrm>
            <a:off x="762000" y="2371725"/>
            <a:ext cx="4330700" cy="19050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719"/>
          <p:cNvSpPr>
            <a:spLocks noGrp="1"/>
          </p:cNvSpPr>
          <p:nvPr/>
        </p:nvSpPr>
        <p:spPr>
          <a:xfrm>
            <a:off x="933450" y="2543175"/>
            <a:ext cx="398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一级：基座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720"/>
          <p:cNvSpPr>
            <a:spLocks noGrp="1"/>
          </p:cNvSpPr>
          <p:nvPr/>
        </p:nvSpPr>
        <p:spPr>
          <a:xfrm>
            <a:off x="933450" y="3114675"/>
            <a:ext cx="39878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Core / OS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Simulator / ML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721"/>
          <p:cNvSpPr>
            <a:spLocks noGrp="1"/>
          </p:cNvSpPr>
          <p:nvPr/>
        </p:nvSpPr>
        <p:spPr>
          <a:xfrm>
            <a:off x="5454650" y="2371725"/>
            <a:ext cx="4330700" cy="19050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722"/>
          <p:cNvSpPr>
            <a:spLocks noGrp="1"/>
          </p:cNvSpPr>
          <p:nvPr/>
        </p:nvSpPr>
        <p:spPr>
          <a:xfrm>
            <a:off x="5626100" y="2543175"/>
            <a:ext cx="398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二级：行业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723"/>
          <p:cNvSpPr>
            <a:spLocks noGrp="1"/>
          </p:cNvSpPr>
          <p:nvPr/>
        </p:nvSpPr>
        <p:spPr>
          <a:xfrm>
            <a:off x="5626100" y="3114675"/>
            <a:ext cx="39878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Science / Finance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Industry / Crypto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724"/>
          <p:cNvSpPr>
            <a:spLocks noGrp="1"/>
          </p:cNvSpPr>
          <p:nvPr/>
        </p:nvSpPr>
        <p:spPr>
          <a:xfrm>
            <a:off x="10147300" y="2371725"/>
            <a:ext cx="4330700" cy="19050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725"/>
          <p:cNvSpPr>
            <a:spLocks noGrp="1"/>
          </p:cNvSpPr>
          <p:nvPr/>
        </p:nvSpPr>
        <p:spPr>
          <a:xfrm>
            <a:off x="10318750" y="2543175"/>
            <a:ext cx="398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三级：生态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726"/>
          <p:cNvSpPr>
            <a:spLocks noGrp="1"/>
          </p:cNvSpPr>
          <p:nvPr/>
        </p:nvSpPr>
        <p:spPr>
          <a:xfrm>
            <a:off x="10318750" y="3114675"/>
            <a:ext cx="39878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Visual / Benchmark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Studio / Plugins / Tooling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5" name="直接箭头连接符 34"/>
          <p:cNvCxnSpPr>
            <a:stCxn id="5" idx="3"/>
            <a:endCxn id="8" idx="1"/>
          </p:cNvCxnSpPr>
          <p:nvPr/>
        </p:nvCxnSpPr>
        <p:spPr>
          <a:xfrm>
            <a:off x="5092700" y="3324225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36" name="直接箭头连接符 35"/>
          <p:cNvCxnSpPr>
            <a:stCxn id="8" idx="3"/>
            <a:endCxn id="11" idx="1"/>
          </p:cNvCxnSpPr>
          <p:nvPr/>
        </p:nvCxnSpPr>
        <p:spPr>
          <a:xfrm>
            <a:off x="9785350" y="3324225"/>
            <a:ext cx="361950" cy="0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16" name="text-727"/>
          <p:cNvSpPr>
            <a:spLocks noGrp="1"/>
          </p:cNvSpPr>
          <p:nvPr/>
        </p:nvSpPr>
        <p:spPr>
          <a:xfrm>
            <a:off x="762000" y="5257800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形成计算与运行闭环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-728"/>
          <p:cNvSpPr>
            <a:spLocks noGrp="1"/>
          </p:cNvSpPr>
          <p:nvPr/>
        </p:nvSpPr>
        <p:spPr>
          <a:xfrm>
            <a:off x="762000" y="5867400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硬件插件、编译器、QOS、QB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公共契约和可微基础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729"/>
          <p:cNvSpPr>
            <a:spLocks noGrp="1"/>
          </p:cNvSpPr>
          <p:nvPr/>
        </p:nvSpPr>
        <p:spPr>
          <a:xfrm>
            <a:off x="5499100" y="5257800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逐项建设领域能力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730"/>
          <p:cNvSpPr>
            <a:spLocks noGrp="1"/>
          </p:cNvSpPr>
          <p:nvPr/>
        </p:nvSpPr>
        <p:spPr>
          <a:xfrm>
            <a:off x="5499100" y="5867400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完整模型、算法、数据与结果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典型应用和经典对照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-731"/>
          <p:cNvSpPr>
            <a:spLocks noGrp="1"/>
          </p:cNvSpPr>
          <p:nvPr/>
        </p:nvSpPr>
        <p:spPr>
          <a:xfrm>
            <a:off x="10236200" y="5257800"/>
            <a:ext cx="424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形成产品交付闭环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-732"/>
          <p:cNvSpPr>
            <a:spLocks noGrp="1"/>
          </p:cNvSpPr>
          <p:nvPr/>
        </p:nvSpPr>
        <p:spPr>
          <a:xfrm>
            <a:off x="10236200" y="5867400"/>
            <a:ext cx="42418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可视化、基准、开发工具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独立安装、文档和插件发布</a:t>
            </a:r>
            <a:endParaRPr sz="202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733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分层交付与验收标准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734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用同一证据链验证整体生态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735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自主内核、可选适配与研究扩展分别发布支持范围。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736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31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762000" y="2238375"/>
          <a:ext cx="1371600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524500"/>
                <a:gridCol w="5429250"/>
              </a:tblGrid>
              <a:tr h="841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层级</a:t>
                      </a:r>
                      <a:endParaRPr sz="1875" b="1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应交付内容</a:t>
                      </a:r>
                      <a:endParaRPr sz="1875" b="1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验收证据</a:t>
                      </a:r>
                      <a:endParaRPr sz="1875" b="1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0F5FA"/>
                    </a:solidFill>
                  </a:tcPr>
                </a:tc>
              </a:tr>
              <a:tr h="841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硬件 / 插件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设备能力、任务和结果接口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发现、提交、取消、校准及结果测试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  <a:tr h="841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编译器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IR、passes、布局路由和目标制品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语义等价、拓扑合法、性能与版本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  <a:tr h="841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QOS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任务状态、调度、资源与恢复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幂等、预算、故障、重试和检查点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  <a:tr h="841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QB / 主分包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建模、原语、仿真、可微与插件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独立安装、数值、梯度与兼容矩阵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  <a:tr h="841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应用 / 工具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四领域工作流、视图和评测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34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经典基线、业务约束与完整 Manifest</a:t>
                      </a:r>
                      <a:endParaRPr sz="1875">
                        <a:solidFill>
                          <a:srgbClr val="17334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71450" marR="171450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text-737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示范工作流：应用贯通到底层算力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738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 Science 分子能量为例，复用同一生态执行链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739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金融、工业和安全应用更换领域模型，继续复用 QB、QOS、编译器与资源接口。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740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32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iagram-741"/>
          <p:cNvSpPr>
            <a:spLocks noGrp="1"/>
          </p:cNvSpPr>
          <p:nvPr/>
        </p:nvSpPr>
        <p:spPr>
          <a:xfrm>
            <a:off x="762000" y="2057400"/>
            <a:ext cx="9144000" cy="8382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6" name="text-742"/>
          <p:cNvSpPr>
            <a:spLocks noGrp="1"/>
          </p:cNvSpPr>
          <p:nvPr/>
        </p:nvSpPr>
        <p:spPr>
          <a:xfrm>
            <a:off x="933450" y="2152650"/>
            <a:ext cx="8801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应用：Science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743"/>
          <p:cNvSpPr>
            <a:spLocks noGrp="1"/>
          </p:cNvSpPr>
          <p:nvPr/>
        </p:nvSpPr>
        <p:spPr>
          <a:xfrm>
            <a:off x="933450" y="2524125"/>
            <a:ext cx="88011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分子 / 基组 / 哈密顿量 / 能量目标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diagram-744"/>
          <p:cNvSpPr>
            <a:spLocks noGrp="1"/>
          </p:cNvSpPr>
          <p:nvPr/>
        </p:nvSpPr>
        <p:spPr>
          <a:xfrm>
            <a:off x="762000" y="3133725"/>
            <a:ext cx="9144000" cy="8382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9" name="text-745"/>
          <p:cNvSpPr>
            <a:spLocks noGrp="1"/>
          </p:cNvSpPr>
          <p:nvPr/>
        </p:nvSpPr>
        <p:spPr>
          <a:xfrm>
            <a:off x="933450" y="3228975"/>
            <a:ext cx="8801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QB SDK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746"/>
          <p:cNvSpPr>
            <a:spLocks noGrp="1"/>
          </p:cNvSpPr>
          <p:nvPr/>
        </p:nvSpPr>
        <p:spPr>
          <a:xfrm>
            <a:off x="933450" y="3600450"/>
            <a:ext cx="88011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VQE + QNode + Estimator + 优化器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diagram-747"/>
          <p:cNvSpPr>
            <a:spLocks noGrp="1"/>
          </p:cNvSpPr>
          <p:nvPr/>
        </p:nvSpPr>
        <p:spPr>
          <a:xfrm>
            <a:off x="762000" y="4210050"/>
            <a:ext cx="9144000" cy="8382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2" name="text-748"/>
          <p:cNvSpPr>
            <a:spLocks noGrp="1"/>
          </p:cNvSpPr>
          <p:nvPr/>
        </p:nvSpPr>
        <p:spPr>
          <a:xfrm>
            <a:off x="933450" y="4305300"/>
            <a:ext cx="8801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749"/>
          <p:cNvSpPr>
            <a:spLocks noGrp="1"/>
          </p:cNvSpPr>
          <p:nvPr/>
        </p:nvSpPr>
        <p:spPr>
          <a:xfrm>
            <a:off x="933450" y="4676775"/>
            <a:ext cx="88011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批次 / 后端选择 / 预算 / 校准快照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iagram-750"/>
          <p:cNvSpPr>
            <a:spLocks noGrp="1"/>
          </p:cNvSpPr>
          <p:nvPr/>
        </p:nvSpPr>
        <p:spPr>
          <a:xfrm>
            <a:off x="762000" y="5286375"/>
            <a:ext cx="9144000" cy="8382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5" name="text-751"/>
          <p:cNvSpPr>
            <a:spLocks noGrp="1"/>
          </p:cNvSpPr>
          <p:nvPr/>
        </p:nvSpPr>
        <p:spPr>
          <a:xfrm>
            <a:off x="933450" y="5381625"/>
            <a:ext cx="8801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Compiler / HAL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752"/>
          <p:cNvSpPr>
            <a:spLocks noGrp="1"/>
          </p:cNvSpPr>
          <p:nvPr/>
        </p:nvSpPr>
        <p:spPr>
          <a:xfrm>
            <a:off x="933450" y="5753100"/>
            <a:ext cx="88011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设备约束转译 / 测量分组 / 目标制品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diagram-753"/>
          <p:cNvSpPr>
            <a:spLocks noGrp="1"/>
          </p:cNvSpPr>
          <p:nvPr/>
        </p:nvSpPr>
        <p:spPr>
          <a:xfrm>
            <a:off x="762000" y="6362700"/>
            <a:ext cx="9144000" cy="838200"/>
          </a:xfrm>
          <a:prstGeom prst="rect">
            <a:avLst/>
          </a:prstGeom>
          <a:solidFill>
            <a:srgbClr val="F0F5FA"/>
          </a:solidFill>
          <a:ln w="13335">
            <a:solidFill>
              <a:srgbClr val="BDCFDA"/>
            </a:solidFill>
          </a:ln>
        </p:spPr>
      </p:sp>
      <p:sp>
        <p:nvSpPr>
          <p:cNvPr id="18" name="text-754"/>
          <p:cNvSpPr>
            <a:spLocks noGrp="1"/>
          </p:cNvSpPr>
          <p:nvPr/>
        </p:nvSpPr>
        <p:spPr>
          <a:xfrm>
            <a:off x="933450" y="6457950"/>
            <a:ext cx="8801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硬件或 Simulator</a:t>
            </a:r>
            <a:endParaRPr sz="202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755"/>
          <p:cNvSpPr>
            <a:spLocks noGrp="1"/>
          </p:cNvSpPr>
          <p:nvPr/>
        </p:nvSpPr>
        <p:spPr>
          <a:xfrm>
            <a:off x="933450" y="6829425"/>
            <a:ext cx="88011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执行 / 采样 / 期望值 / 误差</a:t>
            </a:r>
            <a:endParaRPr sz="18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8" name="直接箭头连接符 47"/>
          <p:cNvCxnSpPr>
            <a:stCxn id="5" idx="2"/>
            <a:endCxn id="8" idx="0"/>
          </p:cNvCxnSpPr>
          <p:nvPr/>
        </p:nvCxnSpPr>
        <p:spPr>
          <a:xfrm>
            <a:off x="5334000" y="2895600"/>
            <a:ext cx="0" cy="238125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49" name="直接箭头连接符 48"/>
          <p:cNvCxnSpPr>
            <a:stCxn id="8" idx="2"/>
            <a:endCxn id="11" idx="0"/>
          </p:cNvCxnSpPr>
          <p:nvPr/>
        </p:nvCxnSpPr>
        <p:spPr>
          <a:xfrm>
            <a:off x="5334000" y="3971925"/>
            <a:ext cx="0" cy="238125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0" name="直接箭头连接符 49"/>
          <p:cNvCxnSpPr>
            <a:stCxn id="11" idx="2"/>
            <a:endCxn id="14" idx="0"/>
          </p:cNvCxnSpPr>
          <p:nvPr/>
        </p:nvCxnSpPr>
        <p:spPr>
          <a:xfrm>
            <a:off x="5334000" y="5048250"/>
            <a:ext cx="0" cy="238125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1" name="直接箭头连接符 50"/>
          <p:cNvCxnSpPr>
            <a:stCxn id="14" idx="2"/>
            <a:endCxn id="17" idx="0"/>
          </p:cNvCxnSpPr>
          <p:nvPr/>
        </p:nvCxnSpPr>
        <p:spPr>
          <a:xfrm>
            <a:off x="5334000" y="6124575"/>
            <a:ext cx="0" cy="238125"/>
          </a:xfrm>
          <a:prstGeom prst="straightConnector1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sp>
        <p:nvSpPr>
          <p:cNvPr id="24" name="diagram-756"/>
          <p:cNvSpPr>
            <a:spLocks noGrp="1"/>
          </p:cNvSpPr>
          <p:nvPr/>
        </p:nvSpPr>
        <p:spPr>
          <a:xfrm>
            <a:off x="10858500" y="3038475"/>
            <a:ext cx="3619500" cy="3095625"/>
          </a:xfrm>
          <a:prstGeom prst="rect">
            <a:avLst/>
          </a:prstGeom>
          <a:solidFill>
            <a:srgbClr val="E9F5F3"/>
          </a:solidFill>
          <a:ln w="13335">
            <a:solidFill>
              <a:srgbClr val="BDCFDA"/>
            </a:solidFill>
          </a:ln>
        </p:spPr>
      </p:sp>
      <p:sp>
        <p:nvSpPr>
          <p:cNvPr id="25" name="text-757"/>
          <p:cNvSpPr>
            <a:spLocks noGrp="1"/>
          </p:cNvSpPr>
          <p:nvPr/>
        </p:nvSpPr>
        <p:spPr>
          <a:xfrm>
            <a:off x="11029950" y="3209925"/>
            <a:ext cx="3276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结果与下一轮迭代</a:t>
            </a:r>
            <a:endParaRPr sz="2175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758"/>
          <p:cNvSpPr>
            <a:spLocks noGrp="1"/>
          </p:cNvSpPr>
          <p:nvPr/>
        </p:nvSpPr>
        <p:spPr>
          <a:xfrm>
            <a:off x="11029950" y="3838575"/>
            <a:ext cx="3276600" cy="2219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能量与收敛曲线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参数和优化器状态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原始 / 缓解结果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耗时 / shots / 成本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Manifest 与基线</a:t>
            </a:r>
            <a:endParaRPr sz="1875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5" name="肘形连接符 54"/>
          <p:cNvCxnSpPr>
            <a:stCxn id="17" idx="3"/>
            <a:endCxn id="24" idx="2"/>
          </p:cNvCxnSpPr>
          <p:nvPr/>
        </p:nvCxnSpPr>
        <p:spPr>
          <a:xfrm flipV="1">
            <a:off x="9906000" y="6134100"/>
            <a:ext cx="2762250" cy="647700"/>
          </a:xfrm>
          <a:prstGeom prst="bentConnector2">
            <a:avLst/>
          </a:prstGeom>
          <a:ln w="22860">
            <a:solidFill>
              <a:srgbClr val="057F86"/>
            </a:solidFill>
            <a:prstDash val="solid"/>
            <a:tailEnd type="triangle" w="sm" len="sm"/>
          </a:ln>
        </p:spPr>
      </p:cxnSp>
      <p:cxnSp>
        <p:nvCxnSpPr>
          <p:cNvPr id="56" name="肘形连接符 55"/>
          <p:cNvCxnSpPr>
            <a:stCxn id="24" idx="0"/>
            <a:endCxn id="8" idx="3"/>
          </p:cNvCxnSpPr>
          <p:nvPr/>
        </p:nvCxnSpPr>
        <p:spPr>
          <a:xfrm flipH="1">
            <a:off x="9906000" y="2809875"/>
            <a:ext cx="2762250" cy="742950"/>
          </a:xfrm>
          <a:prstGeom prst="bentConnector4">
            <a:avLst/>
          </a:prstGeom>
          <a:ln w="22860">
            <a:solidFill>
              <a:srgbClr val="205FBC"/>
            </a:solidFill>
            <a:prstDash val="dash"/>
            <a:tailEnd type="triangle" w="sm" len="sm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xt-759"/>
          <p:cNvSpPr>
            <a:spLocks noGrp="1"/>
          </p:cNvSpPr>
          <p:nvPr/>
        </p:nvSpPr>
        <p:spPr>
          <a:xfrm>
            <a:off x="762000" y="590550"/>
            <a:ext cx="1371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架构依据与来源说明</a:t>
            </a:r>
            <a:endParaRPr sz="3750" b="1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ext-760"/>
          <p:cNvSpPr>
            <a:spLocks noGrp="1"/>
          </p:cNvSpPr>
          <p:nvPr/>
        </p:nvSpPr>
        <p:spPr>
          <a:xfrm>
            <a:off x="781050" y="1504950"/>
            <a:ext cx="13658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产品框架定义目标，既有代码提供复用素材</a:t>
            </a:r>
            <a:endParaRPr sz="1800" b="0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761"/>
          <p:cNvSpPr>
            <a:spLocks noGrp="1"/>
          </p:cNvSpPr>
          <p:nvPr/>
        </p:nvSpPr>
        <p:spPr>
          <a:xfrm>
            <a:off x="781050" y="7696200"/>
            <a:ext cx="1314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本材料为生态规划，所有图形、文字、连接线和表格均使用原生 PowerPoint 对象。</a:t>
            </a:r>
            <a:endParaRPr sz="16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762"/>
          <p:cNvSpPr>
            <a:spLocks noGrp="1"/>
          </p:cNvSpPr>
          <p:nvPr/>
        </p:nvSpPr>
        <p:spPr>
          <a:xfrm>
            <a:off x="13954125" y="81534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6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33</a:t>
            </a:r>
            <a:endParaRPr sz="1350" b="0">
              <a:solidFill>
                <a:srgbClr val="6076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-763"/>
          <p:cNvSpPr>
            <a:spLocks noGrp="1"/>
          </p:cNvSpPr>
          <p:nvPr/>
        </p:nvSpPr>
        <p:spPr>
          <a:xfrm>
            <a:off x="762000" y="2286000"/>
            <a:ext cx="31908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框架主体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764"/>
          <p:cNvSpPr>
            <a:spLocks noGrp="1"/>
          </p:cNvSpPr>
          <p:nvPr/>
        </p:nvSpPr>
        <p:spPr>
          <a:xfrm>
            <a:off x="4381500" y="2314575"/>
            <a:ext cx="10096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用户指定的十个主分包与完整生态功能要求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765"/>
          <p:cNvSpPr>
            <a:spLocks noGrp="1"/>
          </p:cNvSpPr>
          <p:nvPr/>
        </p:nvSpPr>
        <p:spPr>
          <a:xfrm>
            <a:off x="762000" y="3333750"/>
            <a:ext cx="31908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本地资产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-766"/>
          <p:cNvSpPr>
            <a:spLocks noGrp="1"/>
          </p:cNvSpPr>
          <p:nvPr/>
        </p:nvSpPr>
        <p:spPr>
          <a:xfrm>
            <a:off x="4381500" y="3362325"/>
            <a:ext cx="10096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QuantumBridge 的 Core、Router、Studio、兼容层与行业代码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text-767"/>
          <p:cNvSpPr>
            <a:spLocks noGrp="1"/>
          </p:cNvSpPr>
          <p:nvPr/>
        </p:nvSpPr>
        <p:spPr>
          <a:xfrm>
            <a:off x="762000" y="4381500"/>
            <a:ext cx="31908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Quantum OS 原图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768"/>
          <p:cNvSpPr>
            <a:spLocks noGrp="1"/>
          </p:cNvSpPr>
          <p:nvPr/>
        </p:nvSpPr>
        <p:spPr>
          <a:xfrm>
            <a:off x="4381500" y="4410075"/>
            <a:ext cx="10096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README 四层架构、MLFQ 调度图、QOS-DP 与 QEC 执行时序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-769"/>
          <p:cNvSpPr>
            <a:spLocks noGrp="1"/>
          </p:cNvSpPr>
          <p:nvPr/>
        </p:nvSpPr>
        <p:spPr>
          <a:xfrm>
            <a:off x="762000" y="5429250"/>
            <a:ext cx="31908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上游技术参照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-770"/>
          <p:cNvSpPr>
            <a:spLocks noGrp="1"/>
          </p:cNvSpPr>
          <p:nvPr/>
        </p:nvSpPr>
        <p:spPr>
          <a:xfrm>
            <a:off x="4381500" y="5457825"/>
            <a:ext cx="10096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Qiskit / PennyLane / Catalyst，及相关插件官方资料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771"/>
          <p:cNvSpPr>
            <a:spLocks noGrp="1"/>
          </p:cNvSpPr>
          <p:nvPr/>
        </p:nvSpPr>
        <p:spPr>
          <a:xfrm>
            <a:off x="762000" y="6477000"/>
            <a:ext cx="31908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57F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版本与证据</a:t>
            </a:r>
            <a:endParaRPr sz="2250" b="1">
              <a:solidFill>
                <a:srgbClr val="057F8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772"/>
          <p:cNvSpPr>
            <a:spLocks noGrp="1"/>
          </p:cNvSpPr>
          <p:nvPr/>
        </p:nvSpPr>
        <p:spPr>
          <a:xfrm>
            <a:off x="4381500" y="6505575"/>
            <a:ext cx="10096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7334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本地与远端审计、模块支持范围、接口合同与公开标准</a:t>
            </a:r>
            <a:endParaRPr sz="2100" b="0">
              <a:solidFill>
                <a:srgbClr val="17334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10268</Words>
  <Application>WPS 文字</Application>
  <PresentationFormat>Converted Presentation</PresentationFormat>
  <Paragraphs>1430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Arial</vt:lpstr>
      <vt:lpstr>宋体</vt:lpstr>
      <vt:lpstr>Wingdings</vt:lpstr>
      <vt:lpstr>PingFang SC</vt:lpstr>
      <vt:lpstr>Calibri</vt:lpstr>
      <vt:lpstr>Helvetica Neue</vt:lpstr>
      <vt:lpstr>微软雅黑</vt:lpstr>
      <vt:lpstr>方正雅意黑 GB18030L2</vt:lpstr>
      <vt:lpstr>宋体</vt:lpstr>
      <vt:lpstr>Arial Unicode MS</vt:lpstr>
      <vt:lpstr>汉仪书宋二KW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Crystal-Tensor</cp:lastModifiedBy>
  <cp:revision>1</cp:revision>
  <dcterms:created xsi:type="dcterms:W3CDTF">2026-09-16T04:16:14Z</dcterms:created>
  <dcterms:modified xsi:type="dcterms:W3CDTF">2026-09-16T04:16:14Z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2611DC298B12D1D70E18AA6A9B26D076_42</vt:lpwstr>
  </property>
</Properties>
</file>